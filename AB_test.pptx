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3" r:id="rId6"/>
    <p:sldId id="262" r:id="rId7"/>
    <p:sldId id="261" r:id="rId8"/>
    <p:sldId id="259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CFF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Средний стиль 4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25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88B3E-6BDF-447D-927C-7173740618A1}" type="datetimeFigureOut">
              <a:rPr lang="ru-RU" smtClean="0"/>
              <a:t>26.02.2026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E027C-3A7B-45AA-B075-63D11D214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71611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88B3E-6BDF-447D-927C-7173740618A1}" type="datetimeFigureOut">
              <a:rPr lang="ru-RU" smtClean="0"/>
              <a:t>26.02.2026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E027C-3A7B-45AA-B075-63D11D214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2666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88B3E-6BDF-447D-927C-7173740618A1}" type="datetimeFigureOut">
              <a:rPr lang="ru-RU" smtClean="0"/>
              <a:t>26.02.2026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E027C-3A7B-45AA-B075-63D11D214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8213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88B3E-6BDF-447D-927C-7173740618A1}" type="datetimeFigureOut">
              <a:rPr lang="ru-RU" smtClean="0"/>
              <a:t>26.02.2026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E027C-3A7B-45AA-B075-63D11D214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42450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88B3E-6BDF-447D-927C-7173740618A1}" type="datetimeFigureOut">
              <a:rPr lang="ru-RU" smtClean="0"/>
              <a:t>26.02.2026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E027C-3A7B-45AA-B075-63D11D214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437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88B3E-6BDF-447D-927C-7173740618A1}" type="datetimeFigureOut">
              <a:rPr lang="ru-RU" smtClean="0"/>
              <a:t>26.02.2026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E027C-3A7B-45AA-B075-63D11D214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492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88B3E-6BDF-447D-927C-7173740618A1}" type="datetimeFigureOut">
              <a:rPr lang="ru-RU" smtClean="0"/>
              <a:t>26.02.2026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E027C-3A7B-45AA-B075-63D11D214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98370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88B3E-6BDF-447D-927C-7173740618A1}" type="datetimeFigureOut">
              <a:rPr lang="ru-RU" smtClean="0"/>
              <a:t>26.02.2026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E027C-3A7B-45AA-B075-63D11D214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42106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88B3E-6BDF-447D-927C-7173740618A1}" type="datetimeFigureOut">
              <a:rPr lang="ru-RU" smtClean="0"/>
              <a:t>26.02.2026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E027C-3A7B-45AA-B075-63D11D214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7308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88B3E-6BDF-447D-927C-7173740618A1}" type="datetimeFigureOut">
              <a:rPr lang="ru-RU" smtClean="0"/>
              <a:t>26.02.2026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E027C-3A7B-45AA-B075-63D11D214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79063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88B3E-6BDF-447D-927C-7173740618A1}" type="datetimeFigureOut">
              <a:rPr lang="ru-RU" smtClean="0"/>
              <a:t>26.02.2026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E027C-3A7B-45AA-B075-63D11D214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0042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688B3E-6BDF-447D-927C-7173740618A1}" type="datetimeFigureOut">
              <a:rPr lang="ru-RU" smtClean="0"/>
              <a:t>26.02.2026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3E027C-3A7B-45AA-B075-63D11D2149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8803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AB_test_Marketplete.docx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56823" y="231822"/>
            <a:ext cx="10483401" cy="1887924"/>
          </a:xfrm>
        </p:spPr>
        <p:txBody>
          <a:bodyPr/>
          <a:lstStyle/>
          <a:p>
            <a:r>
              <a:rPr lang="ru-RU" b="1" dirty="0" smtClean="0"/>
              <a:t>АВ-тест обновления рекламной ленты</a:t>
            </a:r>
            <a:endParaRPr lang="ru-RU" b="1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26523" y="2961958"/>
            <a:ext cx="9144000" cy="723074"/>
          </a:xfrm>
        </p:spPr>
        <p:txBody>
          <a:bodyPr>
            <a:normAutofit fontScale="92500" lnSpcReduction="20000"/>
          </a:bodyPr>
          <a:lstStyle/>
          <a:p>
            <a:r>
              <a:rPr lang="ru-RU" dirty="0" smtClean="0"/>
              <a:t>период с 01.03.2019 по 07.03.2019</a:t>
            </a:r>
            <a:endParaRPr lang="en-US" dirty="0" smtClean="0"/>
          </a:p>
          <a:p>
            <a:r>
              <a:rPr lang="ru-RU" dirty="0" smtClean="0"/>
              <a:t>Ключевые особенности: стратификация по платформам </a:t>
            </a:r>
            <a:r>
              <a:rPr lang="ru-RU" dirty="0"/>
              <a:t>(</a:t>
            </a:r>
            <a:r>
              <a:rPr lang="en-US" dirty="0"/>
              <a:t>mobile, desktop)</a:t>
            </a:r>
            <a:endParaRPr lang="ru-RU" dirty="0"/>
          </a:p>
          <a:p>
            <a:endParaRPr lang="ru-RU" dirty="0"/>
          </a:p>
        </p:txBody>
      </p:sp>
      <p:sp>
        <p:nvSpPr>
          <p:cNvPr id="4" name="Подзаголовок 2"/>
          <p:cNvSpPr txBox="1">
            <a:spLocks/>
          </p:cNvSpPr>
          <p:nvPr/>
        </p:nvSpPr>
        <p:spPr>
          <a:xfrm>
            <a:off x="1326523" y="5638655"/>
            <a:ext cx="9144000" cy="101983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800" dirty="0" smtClean="0"/>
              <a:t>Ключевые особенности:</a:t>
            </a:r>
            <a:br>
              <a:rPr lang="ru-RU" sz="1800" dirty="0" smtClean="0"/>
            </a:br>
            <a:r>
              <a:rPr lang="ru-RU" sz="1800" dirty="0" smtClean="0"/>
              <a:t>- стратификация по платформам (</a:t>
            </a:r>
            <a:r>
              <a:rPr lang="en-US" sz="1800" dirty="0" smtClean="0"/>
              <a:t>mobile, desktop)</a:t>
            </a:r>
            <a:r>
              <a:rPr lang="ru-RU" sz="1800" dirty="0" smtClean="0"/>
              <a:t/>
            </a:r>
            <a:br>
              <a:rPr lang="ru-RU" sz="1800" dirty="0" smtClean="0"/>
            </a:br>
            <a:r>
              <a:rPr lang="ru-RU" sz="1800" dirty="0" smtClean="0"/>
              <a:t>- данные за 05.03.2019 были исключены как не релевантные.</a:t>
            </a:r>
            <a:br>
              <a:rPr lang="ru-RU" sz="1800" dirty="0" smtClean="0"/>
            </a:br>
            <a:r>
              <a:rPr lang="ru-RU" sz="1800" dirty="0" smtClean="0"/>
              <a:t>- подробный отчет по этапам, методам, анализу и выводам изложен отдельным файлом </a:t>
            </a:r>
            <a:endParaRPr lang="ru-RU" sz="1800" dirty="0"/>
          </a:p>
          <a:p>
            <a:pPr algn="l"/>
            <a:endParaRPr lang="ru-RU" sz="1800" dirty="0" smtClean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977679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52779"/>
          </a:xfrm>
        </p:spPr>
        <p:txBody>
          <a:bodyPr>
            <a:normAutofit/>
          </a:bodyPr>
          <a:lstStyle/>
          <a:p>
            <a:r>
              <a:rPr lang="ru-RU" sz="4000" b="1" dirty="0" smtClean="0"/>
              <a:t>Общая информация об </a:t>
            </a:r>
            <a:r>
              <a:rPr lang="ru-RU" sz="4000" b="1" dirty="0" smtClean="0">
                <a:hlinkClick r:id="rId2" action="ppaction://hlinkfile"/>
              </a:rPr>
              <a:t>эксперименте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517904"/>
            <a:ext cx="10515600" cy="52735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b="1" dirty="0" smtClean="0"/>
              <a:t>Цель</a:t>
            </a:r>
            <a:r>
              <a:rPr lang="ru-RU" sz="1800" dirty="0" smtClean="0"/>
              <a:t>: </a:t>
            </a:r>
            <a:br>
              <a:rPr lang="ru-RU" sz="1800" dirty="0" smtClean="0"/>
            </a:br>
            <a:r>
              <a:rPr lang="ru-RU" sz="1800" dirty="0" smtClean="0"/>
              <a:t>сравниваем 2 сегмента пользователей: </a:t>
            </a:r>
            <a:br>
              <a:rPr lang="ru-RU" sz="1800" dirty="0" smtClean="0"/>
            </a:br>
            <a:r>
              <a:rPr lang="ru-RU" sz="1800" dirty="0" smtClean="0"/>
              <a:t>1) видят обычную ленту объявлений (органический элемент вверху, 4 рекламных внизу)</a:t>
            </a:r>
            <a:br>
              <a:rPr lang="ru-RU" sz="1800" dirty="0" smtClean="0"/>
            </a:br>
            <a:r>
              <a:rPr lang="ru-RU" sz="1800" dirty="0" smtClean="0"/>
              <a:t>2) видят обновленную ленту объявлений (4 рекламных элемента вверху, органический элемент внизу)</a:t>
            </a:r>
          </a:p>
          <a:p>
            <a:pPr marL="0" indent="0">
              <a:buNone/>
            </a:pPr>
            <a:r>
              <a:rPr lang="ru-RU" sz="1800" b="1" dirty="0" smtClean="0"/>
              <a:t>Описание </a:t>
            </a:r>
            <a:r>
              <a:rPr lang="ru-RU" sz="1800" b="1" dirty="0"/>
              <a:t>проекта:</a:t>
            </a:r>
          </a:p>
          <a:p>
            <a:pPr marL="0" indent="0">
              <a:buNone/>
            </a:pPr>
            <a:r>
              <a:rPr lang="ru-RU" sz="1800" dirty="0" smtClean="0"/>
              <a:t>Эксперимент:</a:t>
            </a:r>
            <a:br>
              <a:rPr lang="ru-RU" sz="1800" dirty="0" smtClean="0"/>
            </a:br>
            <a:r>
              <a:rPr lang="ru-RU" sz="1800" dirty="0" smtClean="0"/>
              <a:t>Вариант А – контрольный</a:t>
            </a:r>
            <a:br>
              <a:rPr lang="ru-RU" sz="1800" dirty="0" smtClean="0"/>
            </a:br>
            <a:r>
              <a:rPr lang="ru-RU" sz="1800" dirty="0" smtClean="0"/>
              <a:t>Вариант В – тестовый</a:t>
            </a:r>
          </a:p>
          <a:p>
            <a:pPr marL="0" indent="0">
              <a:buNone/>
            </a:pPr>
            <a:r>
              <a:rPr lang="ru-RU" sz="1800" dirty="0" smtClean="0"/>
              <a:t>Что рассчитать:</a:t>
            </a:r>
            <a:br>
              <a:rPr lang="ru-RU" sz="1800" dirty="0" smtClean="0"/>
            </a:br>
            <a:r>
              <a:rPr lang="ru-RU" sz="1800" dirty="0" smtClean="0"/>
              <a:t> - прибыль от перехода по рекламным элементам</a:t>
            </a:r>
            <a:br>
              <a:rPr lang="ru-RU" sz="1800" dirty="0" smtClean="0"/>
            </a:br>
            <a:r>
              <a:rPr lang="ru-RU" sz="1800" dirty="0" smtClean="0"/>
              <a:t> - конверсию перехода по рекламным элементам</a:t>
            </a:r>
            <a:br>
              <a:rPr lang="ru-RU" sz="1800" dirty="0" smtClean="0"/>
            </a:br>
            <a:r>
              <a:rPr lang="ru-RU" sz="1800" dirty="0" smtClean="0"/>
              <a:t> - конверсию перехода по органическим элементам</a:t>
            </a:r>
          </a:p>
          <a:p>
            <a:pPr marL="0" indent="0">
              <a:buNone/>
            </a:pPr>
            <a:r>
              <a:rPr lang="ru-RU" sz="1800" dirty="0" smtClean="0"/>
              <a:t>Даты эксперимента: с 01.03.2019 по 07.03.2019</a:t>
            </a:r>
          </a:p>
          <a:p>
            <a:pPr marL="0" indent="0">
              <a:buNone/>
            </a:pPr>
            <a:r>
              <a:rPr lang="ru-RU" sz="1800" dirty="0" smtClean="0"/>
              <a:t>Необходимо сравнить в группах следующие метрики:</a:t>
            </a:r>
            <a:br>
              <a:rPr lang="ru-RU" sz="1800" dirty="0" smtClean="0"/>
            </a:br>
            <a:r>
              <a:rPr lang="ru-RU" sz="1800" dirty="0" smtClean="0"/>
              <a:t> - </a:t>
            </a:r>
            <a:r>
              <a:rPr lang="en-US" sz="1800" dirty="0" smtClean="0"/>
              <a:t>RPM</a:t>
            </a:r>
            <a:r>
              <a:rPr lang="ru-RU" sz="1800" dirty="0" smtClean="0"/>
              <a:t>: доход на 1000 просмотров страниц</a:t>
            </a:r>
            <a:br>
              <a:rPr lang="ru-RU" sz="1800" dirty="0" smtClean="0"/>
            </a:br>
            <a:r>
              <a:rPr lang="ru-RU" sz="1800" dirty="0" smtClean="0"/>
              <a:t> - </a:t>
            </a:r>
            <a:r>
              <a:rPr lang="en-US" sz="1800" dirty="0" smtClean="0"/>
              <a:t>RPS</a:t>
            </a:r>
            <a:r>
              <a:rPr lang="ru-RU" sz="1800" dirty="0" smtClean="0"/>
              <a:t>: доход на 1000 сессий</a:t>
            </a:r>
            <a:br>
              <a:rPr lang="ru-RU" sz="1800" dirty="0" smtClean="0"/>
            </a:br>
            <a:r>
              <a:rPr lang="ru-RU" sz="1800" dirty="0" smtClean="0"/>
              <a:t> - </a:t>
            </a:r>
            <a:r>
              <a:rPr lang="en-US" sz="1800" dirty="0" smtClean="0"/>
              <a:t>Paid/Organic CTR</a:t>
            </a:r>
            <a:r>
              <a:rPr lang="ru-RU" sz="1800" dirty="0" smtClean="0"/>
              <a:t>: конверсия перехода по рекламным и органическим ссылкам</a:t>
            </a:r>
            <a:br>
              <a:rPr lang="ru-RU" sz="1800" dirty="0" smtClean="0"/>
            </a:br>
            <a:r>
              <a:rPr lang="ru-RU" sz="1800" dirty="0" smtClean="0"/>
              <a:t> - Количество просмотров за сессию</a:t>
            </a:r>
          </a:p>
          <a:p>
            <a:pPr marL="0" indent="0">
              <a:buNone/>
            </a:pPr>
            <a:endParaRPr lang="ru-RU" sz="1800" dirty="0" smtClean="0"/>
          </a:p>
          <a:p>
            <a:pPr marL="0" indent="0">
              <a:buNone/>
            </a:pP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26570059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89355"/>
          </a:xfrm>
        </p:spPr>
        <p:txBody>
          <a:bodyPr>
            <a:noAutofit/>
          </a:bodyPr>
          <a:lstStyle/>
          <a:p>
            <a:r>
              <a:rPr lang="ru-RU" sz="4000" b="1" dirty="0" smtClean="0"/>
              <a:t>Итоговый результат теста по платформам</a:t>
            </a:r>
            <a:endParaRPr lang="ru-RU" sz="4000" b="1" dirty="0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287087" y="5469774"/>
            <a:ext cx="4082935" cy="120439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b="1" dirty="0" smtClean="0"/>
              <a:t>Desktop (</a:t>
            </a:r>
            <a:r>
              <a:rPr lang="ru-RU" sz="1600" b="1" dirty="0" smtClean="0">
                <a:solidFill>
                  <a:srgbClr val="FF9999"/>
                </a:solidFill>
              </a:rPr>
              <a:t>розовые столбцы</a:t>
            </a:r>
            <a:r>
              <a:rPr lang="ru-RU" sz="1600" b="1" dirty="0" smtClean="0"/>
              <a:t>)</a:t>
            </a:r>
            <a:br>
              <a:rPr lang="ru-RU" sz="1600" b="1" dirty="0" smtClean="0"/>
            </a:br>
            <a:r>
              <a:rPr lang="ru-RU" sz="1600" b="1" dirty="0" smtClean="0">
                <a:solidFill>
                  <a:schemeClr val="accent6"/>
                </a:solidFill>
              </a:rPr>
              <a:t>Рост</a:t>
            </a:r>
            <a:r>
              <a:rPr lang="ru-RU" sz="1600" b="1" dirty="0" smtClean="0">
                <a:solidFill>
                  <a:schemeClr val="accent6"/>
                </a:solidFill>
              </a:rPr>
              <a:t>:</a:t>
            </a:r>
            <a:r>
              <a:rPr lang="ru-RU" sz="1600" dirty="0" smtClean="0"/>
              <a:t> </a:t>
            </a:r>
            <a:r>
              <a:rPr lang="en-US" sz="1600" b="1" dirty="0" smtClean="0"/>
              <a:t>RPM</a:t>
            </a:r>
            <a:r>
              <a:rPr lang="ru-RU" sz="1600" dirty="0"/>
              <a:t>,</a:t>
            </a:r>
            <a:r>
              <a:rPr lang="ru-RU" sz="1600" dirty="0" smtClean="0"/>
              <a:t> </a:t>
            </a:r>
            <a:r>
              <a:rPr lang="en-US" sz="1600" b="1" dirty="0" smtClean="0"/>
              <a:t>CTR</a:t>
            </a:r>
            <a:r>
              <a:rPr lang="ru-RU" sz="1600" dirty="0" smtClean="0"/>
              <a:t>-реклама.</a:t>
            </a:r>
            <a:br>
              <a:rPr lang="ru-RU" sz="1600" dirty="0" smtClean="0"/>
            </a:br>
            <a:r>
              <a:rPr lang="ru-RU" sz="1600" b="1" dirty="0" smtClean="0">
                <a:solidFill>
                  <a:srgbClr val="FF0000"/>
                </a:solidFill>
              </a:rPr>
              <a:t>Падение</a:t>
            </a:r>
            <a:r>
              <a:rPr lang="ru-RU" sz="1600" b="1" dirty="0" smtClean="0">
                <a:solidFill>
                  <a:srgbClr val="FF0000"/>
                </a:solidFill>
              </a:rPr>
              <a:t>:</a:t>
            </a:r>
            <a:r>
              <a:rPr lang="ru-RU" sz="1600" dirty="0" smtClean="0"/>
              <a:t> </a:t>
            </a:r>
            <a:r>
              <a:rPr lang="en-US" sz="1600" b="1" dirty="0" smtClean="0"/>
              <a:t>Revenue</a:t>
            </a:r>
            <a:r>
              <a:rPr lang="ru-RU" sz="1600" b="1" dirty="0" smtClean="0"/>
              <a:t>,</a:t>
            </a:r>
            <a:r>
              <a:rPr lang="en-US" sz="1600" b="1" dirty="0" smtClean="0"/>
              <a:t> RPS, CTR</a:t>
            </a:r>
            <a:r>
              <a:rPr lang="ru-RU" sz="1600" b="1" dirty="0" smtClean="0"/>
              <a:t>-</a:t>
            </a:r>
            <a:r>
              <a:rPr lang="ru-RU" sz="1600" dirty="0" smtClean="0"/>
              <a:t>органика.</a:t>
            </a:r>
            <a:br>
              <a:rPr lang="ru-RU" sz="1600" dirty="0" smtClean="0"/>
            </a:br>
            <a:endParaRPr lang="ru-RU" sz="1600" dirty="0" smtClean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63042"/>
            <a:ext cx="8372302" cy="3998422"/>
          </a:xfrm>
          <a:prstGeom prst="rect">
            <a:avLst/>
          </a:prstGeom>
        </p:spPr>
      </p:pic>
      <p:sp>
        <p:nvSpPr>
          <p:cNvPr id="9" name="Объект 4"/>
          <p:cNvSpPr txBox="1">
            <a:spLocks/>
          </p:cNvSpPr>
          <p:nvPr/>
        </p:nvSpPr>
        <p:spPr>
          <a:xfrm>
            <a:off x="9252065" y="2574956"/>
            <a:ext cx="2060171" cy="186603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ru-RU" sz="18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1800" dirty="0" smtClean="0"/>
              <a:t>Каждый столбец отображает как изменилась метрика в группе В по отношению к группе А</a:t>
            </a:r>
            <a:endParaRPr lang="ru-RU" sz="1800" dirty="0"/>
          </a:p>
        </p:txBody>
      </p:sp>
      <p:sp>
        <p:nvSpPr>
          <p:cNvPr id="10" name="Объект 4"/>
          <p:cNvSpPr txBox="1">
            <a:spLocks/>
          </p:cNvSpPr>
          <p:nvPr/>
        </p:nvSpPr>
        <p:spPr>
          <a:xfrm>
            <a:off x="5594465" y="5461464"/>
            <a:ext cx="3699164" cy="12043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smtClean="0"/>
              <a:t>Mobile</a:t>
            </a:r>
            <a:r>
              <a:rPr lang="ru-RU" sz="1600" b="1" dirty="0" smtClean="0"/>
              <a:t> (</a:t>
            </a:r>
            <a:r>
              <a:rPr lang="ru-RU" sz="1600" b="1" dirty="0" smtClean="0">
                <a:solidFill>
                  <a:srgbClr val="00CCFF"/>
                </a:solidFill>
              </a:rPr>
              <a:t>голубые столбцы</a:t>
            </a:r>
            <a:r>
              <a:rPr lang="ru-RU" sz="1600" b="1" dirty="0" smtClean="0"/>
              <a:t>)</a:t>
            </a:r>
            <a:br>
              <a:rPr lang="ru-RU" sz="1600" b="1" dirty="0" smtClean="0"/>
            </a:br>
            <a:r>
              <a:rPr lang="ru-RU" sz="1600" b="1" dirty="0" smtClean="0">
                <a:solidFill>
                  <a:schemeClr val="accent6"/>
                </a:solidFill>
              </a:rPr>
              <a:t>Рост</a:t>
            </a:r>
            <a:r>
              <a:rPr lang="ru-RU" sz="1600" b="1" dirty="0" smtClean="0">
                <a:solidFill>
                  <a:schemeClr val="accent6"/>
                </a:solidFill>
              </a:rPr>
              <a:t>:</a:t>
            </a:r>
            <a:r>
              <a:rPr lang="ru-RU" sz="1600" dirty="0" smtClean="0"/>
              <a:t> </a:t>
            </a:r>
            <a:r>
              <a:rPr lang="en-US" sz="1600" b="1" dirty="0" smtClean="0"/>
              <a:t>Revenue, RPM</a:t>
            </a:r>
            <a:r>
              <a:rPr lang="ru-RU" sz="1600" dirty="0" smtClean="0"/>
              <a:t>,</a:t>
            </a:r>
            <a:r>
              <a:rPr lang="en-US" sz="1600" dirty="0" smtClean="0"/>
              <a:t> </a:t>
            </a:r>
            <a:r>
              <a:rPr lang="en-US" sz="1600" b="1" dirty="0" smtClean="0"/>
              <a:t>RPS,</a:t>
            </a:r>
            <a:r>
              <a:rPr lang="ru-RU" sz="1600" dirty="0" smtClean="0"/>
              <a:t> </a:t>
            </a:r>
            <a:r>
              <a:rPr lang="en-US" sz="1600" b="1" dirty="0" smtClean="0"/>
              <a:t>CTR</a:t>
            </a:r>
            <a:r>
              <a:rPr lang="ru-RU" sz="1600" dirty="0" smtClean="0"/>
              <a:t>-реклама.</a:t>
            </a:r>
            <a:br>
              <a:rPr lang="ru-RU" sz="1600" dirty="0" smtClean="0"/>
            </a:br>
            <a:r>
              <a:rPr lang="ru-RU" sz="1600" b="1" dirty="0" smtClean="0">
                <a:solidFill>
                  <a:srgbClr val="FF0000"/>
                </a:solidFill>
              </a:rPr>
              <a:t>Падение</a:t>
            </a:r>
            <a:r>
              <a:rPr lang="ru-RU" sz="1600" b="1" dirty="0" smtClean="0">
                <a:solidFill>
                  <a:srgbClr val="FF0000"/>
                </a:solidFill>
              </a:rPr>
              <a:t>:</a:t>
            </a:r>
            <a:r>
              <a:rPr lang="en-US" sz="1600" b="1" dirty="0" smtClean="0"/>
              <a:t> CTR</a:t>
            </a:r>
            <a:r>
              <a:rPr lang="ru-RU" sz="1600" b="1" dirty="0" smtClean="0"/>
              <a:t>-</a:t>
            </a:r>
            <a:r>
              <a:rPr lang="ru-RU" sz="1600" dirty="0" smtClean="0"/>
              <a:t>органика.</a:t>
            </a:r>
            <a:br>
              <a:rPr lang="ru-RU" sz="1600" dirty="0" smtClean="0"/>
            </a:b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2771018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61361"/>
          </a:xfrm>
        </p:spPr>
        <p:txBody>
          <a:bodyPr>
            <a:normAutofit/>
          </a:bodyPr>
          <a:lstStyle/>
          <a:p>
            <a:r>
              <a:rPr lang="ru-RU" sz="4000" b="1" dirty="0" smtClean="0"/>
              <a:t>Обоснование полученных результатов</a:t>
            </a:r>
            <a:endParaRPr lang="ru-RU" sz="4000" b="1" dirty="0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989217" y="5461462"/>
            <a:ext cx="9651074" cy="1304145"/>
          </a:xfrm>
        </p:spPr>
        <p:txBody>
          <a:bodyPr>
            <a:normAutofit fontScale="92500" lnSpcReduction="20000"/>
          </a:bodyPr>
          <a:lstStyle/>
          <a:p>
            <a:pPr marL="0" indent="0" algn="just">
              <a:buNone/>
            </a:pPr>
            <a:r>
              <a:rPr lang="ru-RU" sz="1700" b="1" dirty="0" smtClean="0"/>
              <a:t>Важно</a:t>
            </a:r>
            <a:r>
              <a:rPr lang="ru-RU" sz="1700" dirty="0" smtClean="0"/>
              <a:t>: количество </a:t>
            </a:r>
            <a:r>
              <a:rPr lang="ru-RU" sz="1700" dirty="0" smtClean="0"/>
              <a:t>сессий практически не изменилось (пользователи возвращаются), но снизилось общее количество загруженных страниц и резко упало количество страниц, где пользователь видел нашу ленту.</a:t>
            </a:r>
          </a:p>
          <a:p>
            <a:pPr marL="0" indent="0">
              <a:buNone/>
            </a:pPr>
            <a:r>
              <a:rPr lang="ru-RU" sz="1700" b="1" dirty="0" smtClean="0"/>
              <a:t>Вывод</a:t>
            </a:r>
            <a:r>
              <a:rPr lang="ru-RU" sz="1700" dirty="0" smtClean="0"/>
              <a:t>: </a:t>
            </a:r>
            <a:br>
              <a:rPr lang="ru-RU" sz="1700" dirty="0" smtClean="0"/>
            </a:br>
            <a:r>
              <a:rPr lang="ru-RU" sz="1700" dirty="0" smtClean="0"/>
              <a:t> - пользователи стали чаще кликать на рекламный контент и не возвращаться обратно на сайт. </a:t>
            </a:r>
            <a:r>
              <a:rPr lang="ru-RU" sz="1700" dirty="0" smtClean="0"/>
              <a:t>Это </a:t>
            </a:r>
            <a:r>
              <a:rPr lang="ru-RU" sz="1700" dirty="0" smtClean="0"/>
              <a:t>подтверждается снижением глубины просмотра.</a:t>
            </a:r>
            <a:r>
              <a:rPr lang="ru-RU" sz="1700" dirty="0"/>
              <a:t> </a:t>
            </a:r>
            <a:r>
              <a:rPr lang="ru-RU" sz="1700" dirty="0" smtClean="0"/>
              <a:t/>
            </a:r>
            <a:br>
              <a:rPr lang="ru-RU" sz="1700" dirty="0" smtClean="0"/>
            </a:br>
            <a:r>
              <a:rPr lang="ru-RU" sz="1700" dirty="0"/>
              <a:t> </a:t>
            </a:r>
            <a:r>
              <a:rPr lang="ru-RU" sz="1700" dirty="0" smtClean="0"/>
              <a:t>-</a:t>
            </a:r>
            <a:r>
              <a:rPr lang="ru-RU" sz="1700" dirty="0" smtClean="0"/>
              <a:t> </a:t>
            </a:r>
            <a:r>
              <a:rPr lang="ru-RU" sz="1700" dirty="0" smtClean="0"/>
              <a:t>снижение </a:t>
            </a:r>
            <a:r>
              <a:rPr lang="en-US" sz="1700" dirty="0" smtClean="0"/>
              <a:t>CPC</a:t>
            </a:r>
            <a:r>
              <a:rPr lang="ru-RU" sz="1700" dirty="0" smtClean="0"/>
              <a:t> на </a:t>
            </a:r>
            <a:r>
              <a:rPr lang="en-US" sz="1700" dirty="0" smtClean="0"/>
              <a:t>Desktop</a:t>
            </a:r>
            <a:r>
              <a:rPr lang="ru-RU" sz="1700" dirty="0" smtClean="0"/>
              <a:t> усугубило результат и привело к падению прибыли </a:t>
            </a:r>
          </a:p>
        </p:txBody>
      </p:sp>
      <p:sp>
        <p:nvSpPr>
          <p:cNvPr id="9" name="Объект 4"/>
          <p:cNvSpPr txBox="1">
            <a:spLocks/>
          </p:cNvSpPr>
          <p:nvPr/>
        </p:nvSpPr>
        <p:spPr>
          <a:xfrm>
            <a:off x="9293629" y="2872453"/>
            <a:ext cx="2177935" cy="124257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1800" dirty="0" smtClean="0"/>
              <a:t>Относительный прирост/падение показателей группы В к группе А по каждой платформе</a:t>
            </a:r>
            <a:endParaRPr lang="ru-RU" sz="1800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26023"/>
            <a:ext cx="8372301" cy="3935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162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61361"/>
          </a:xfrm>
        </p:spPr>
        <p:txBody>
          <a:bodyPr>
            <a:normAutofit/>
          </a:bodyPr>
          <a:lstStyle/>
          <a:p>
            <a:r>
              <a:rPr lang="ru-RU" sz="4000" b="1" dirty="0" smtClean="0"/>
              <a:t>Анализ влияния теста на издательства</a:t>
            </a:r>
            <a:endParaRPr lang="ru-RU" sz="4000" b="1" dirty="0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989217" y="5461462"/>
            <a:ext cx="9651074" cy="130414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1700" dirty="0" smtClean="0"/>
              <a:t>Все издательства показали па</a:t>
            </a:r>
            <a:endParaRPr lang="ru-RU" sz="1700" dirty="0" smtClean="0"/>
          </a:p>
        </p:txBody>
      </p:sp>
      <p:sp>
        <p:nvSpPr>
          <p:cNvPr id="9" name="Объект 4"/>
          <p:cNvSpPr txBox="1">
            <a:spLocks/>
          </p:cNvSpPr>
          <p:nvPr/>
        </p:nvSpPr>
        <p:spPr>
          <a:xfrm>
            <a:off x="9410005" y="2063042"/>
            <a:ext cx="2177935" cy="3649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 smtClean="0"/>
              <a:t>Desktop</a:t>
            </a:r>
            <a:endParaRPr lang="ru-RU" sz="1800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7783762"/>
              </p:ext>
            </p:extLst>
          </p:nvPr>
        </p:nvGraphicFramePr>
        <p:xfrm>
          <a:off x="989215" y="1596103"/>
          <a:ext cx="8171409" cy="1298788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864523">
                  <a:extLst>
                    <a:ext uri="{9D8B030D-6E8A-4147-A177-3AD203B41FA5}">
                      <a16:colId xmlns:a16="http://schemas.microsoft.com/office/drawing/2014/main" val="307368453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367231213"/>
                    </a:ext>
                  </a:extLst>
                </a:gridCol>
                <a:gridCol w="1155469">
                  <a:extLst>
                    <a:ext uri="{9D8B030D-6E8A-4147-A177-3AD203B41FA5}">
                      <a16:colId xmlns:a16="http://schemas.microsoft.com/office/drawing/2014/main" val="157669674"/>
                    </a:ext>
                  </a:extLst>
                </a:gridCol>
                <a:gridCol w="1072342">
                  <a:extLst>
                    <a:ext uri="{9D8B030D-6E8A-4147-A177-3AD203B41FA5}">
                      <a16:colId xmlns:a16="http://schemas.microsoft.com/office/drawing/2014/main" val="984069144"/>
                    </a:ext>
                  </a:extLst>
                </a:gridCol>
                <a:gridCol w="756458">
                  <a:extLst>
                    <a:ext uri="{9D8B030D-6E8A-4147-A177-3AD203B41FA5}">
                      <a16:colId xmlns:a16="http://schemas.microsoft.com/office/drawing/2014/main" val="1180036178"/>
                    </a:ext>
                  </a:extLst>
                </a:gridCol>
                <a:gridCol w="989215">
                  <a:extLst>
                    <a:ext uri="{9D8B030D-6E8A-4147-A177-3AD203B41FA5}">
                      <a16:colId xmlns:a16="http://schemas.microsoft.com/office/drawing/2014/main" val="1029428207"/>
                    </a:ext>
                  </a:extLst>
                </a:gridCol>
                <a:gridCol w="702470">
                  <a:extLst>
                    <a:ext uri="{9D8B030D-6E8A-4147-A177-3AD203B41FA5}">
                      <a16:colId xmlns:a16="http://schemas.microsoft.com/office/drawing/2014/main" val="1309030349"/>
                    </a:ext>
                  </a:extLst>
                </a:gridCol>
                <a:gridCol w="858266">
                  <a:extLst>
                    <a:ext uri="{9D8B030D-6E8A-4147-A177-3AD203B41FA5}">
                      <a16:colId xmlns:a16="http://schemas.microsoft.com/office/drawing/2014/main" val="3651040037"/>
                    </a:ext>
                  </a:extLst>
                </a:gridCol>
                <a:gridCol w="858266">
                  <a:extLst>
                    <a:ext uri="{9D8B030D-6E8A-4147-A177-3AD203B41FA5}">
                      <a16:colId xmlns:a16="http://schemas.microsoft.com/office/drawing/2014/main" val="3677480611"/>
                    </a:ext>
                  </a:extLst>
                </a:gridCol>
              </a:tblGrid>
              <a:tr h="336763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u="none" strike="noStrike" dirty="0" smtClean="0">
                          <a:effectLst/>
                        </a:rPr>
                        <a:t>Издательство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 smtClean="0">
                          <a:effectLst/>
                        </a:rPr>
                        <a:t>Pageviews</a:t>
                      </a:r>
                      <a:r>
                        <a:rPr lang="ru-RU" sz="1100" u="none" strike="noStrike" dirty="0" smtClean="0">
                          <a:effectLst/>
                        </a:rPr>
                        <a:t>, </a:t>
                      </a:r>
                      <a:r>
                        <a:rPr lang="ru-RU" sz="1100" u="none" strike="noStrike" dirty="0" err="1" smtClean="0">
                          <a:effectLst/>
                        </a:rPr>
                        <a:t>шт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visible_pageviews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sponsord_clicks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smtClean="0">
                          <a:effectLst/>
                        </a:rPr>
                        <a:t>Revenue</a:t>
                      </a:r>
                      <a:r>
                        <a:rPr lang="ru-RU" sz="1100" u="none" strike="noStrike" dirty="0" smtClean="0">
                          <a:effectLst/>
                        </a:rPr>
                        <a:t>,</a:t>
                      </a:r>
                      <a:r>
                        <a:rPr lang="en-US" sz="1100" u="none" strike="noStrike" dirty="0" smtClean="0">
                          <a:effectLst/>
                        </a:rPr>
                        <a:t>$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organic_clicks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smtClean="0">
                          <a:effectLst/>
                        </a:rPr>
                        <a:t>RPM, $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CTR_paid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CTR_organic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6196811"/>
                  </a:ext>
                </a:extLst>
              </a:tr>
              <a:tr h="187917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u="none" strike="noStrike" dirty="0">
                          <a:effectLst/>
                        </a:rPr>
                        <a:t>101</a:t>
                      </a:r>
                      <a:endParaRPr lang="ru-RU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-5018</a:t>
                      </a:r>
                      <a:endParaRPr lang="ru-RU" sz="11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-3834</a:t>
                      </a:r>
                      <a:endParaRPr lang="ru-RU" sz="11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-198</a:t>
                      </a:r>
                      <a:endParaRPr lang="ru-RU" sz="11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-9,1724</a:t>
                      </a:r>
                      <a:endParaRPr lang="ru-RU" sz="11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ru-RU" sz="11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-2512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>
                          <a:effectLst/>
                        </a:rPr>
                        <a:t>0,000429</a:t>
                      </a:r>
                      <a:endParaRPr lang="ru-RU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>
                          <a:effectLst/>
                        </a:rPr>
                        <a:t>0,03%</a:t>
                      </a:r>
                      <a:endParaRPr lang="ru-RU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ru-RU" sz="11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-5,60%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95683085"/>
                  </a:ext>
                </a:extLst>
              </a:tr>
              <a:tr h="187917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u="none" strike="noStrike" dirty="0">
                          <a:effectLst/>
                        </a:rPr>
                        <a:t>106</a:t>
                      </a:r>
                      <a:endParaRPr lang="ru-RU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-9498</a:t>
                      </a:r>
                      <a:endParaRPr lang="ru-RU" sz="11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-8590</a:t>
                      </a:r>
                      <a:endParaRPr lang="ru-RU" sz="11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solidFill>
                            <a:schemeClr val="accent6"/>
                          </a:solidFill>
                          <a:effectLst/>
                        </a:rPr>
                        <a:t>11</a:t>
                      </a:r>
                      <a:endParaRPr lang="ru-RU" sz="1100" b="1" i="0" u="none" strike="noStrike" dirty="0">
                        <a:solidFill>
                          <a:schemeClr val="accent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-6,5255</a:t>
                      </a:r>
                      <a:endParaRPr lang="ru-RU" sz="11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ru-RU" sz="11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-8644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effectLst/>
                        </a:rPr>
                        <a:t>0,000145</a:t>
                      </a:r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>
                          <a:effectLst/>
                        </a:rPr>
                        <a:t>0,8%</a:t>
                      </a:r>
                      <a:endParaRPr lang="ru-RU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ru-RU" sz="11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-10,4%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33820929"/>
                  </a:ext>
                </a:extLst>
              </a:tr>
              <a:tr h="187917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u="none" strike="noStrike" dirty="0">
                          <a:effectLst/>
                        </a:rPr>
                        <a:t>111</a:t>
                      </a:r>
                      <a:endParaRPr lang="ru-RU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-3352</a:t>
                      </a:r>
                      <a:endParaRPr lang="ru-RU" sz="11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-3822</a:t>
                      </a:r>
                      <a:endParaRPr lang="ru-RU" sz="11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ru-RU" sz="11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-87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-13,5589</a:t>
                      </a:r>
                      <a:endParaRPr lang="ru-RU" sz="11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ru-RU" sz="11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-3318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effectLst/>
                        </a:rPr>
                        <a:t>0,001213</a:t>
                      </a:r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effectLst/>
                        </a:rPr>
                        <a:t>0,5%</a:t>
                      </a:r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ru-RU" sz="11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-8,4%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24081051"/>
                  </a:ext>
                </a:extLst>
              </a:tr>
              <a:tr h="187917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u="none" strike="noStrike" dirty="0">
                          <a:effectLst/>
                        </a:rPr>
                        <a:t>123</a:t>
                      </a:r>
                      <a:endParaRPr lang="ru-RU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-2642</a:t>
                      </a:r>
                      <a:endParaRPr lang="ru-RU" sz="11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-1554</a:t>
                      </a:r>
                      <a:endParaRPr lang="ru-RU" sz="11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solidFill>
                            <a:schemeClr val="accent6"/>
                          </a:solidFill>
                          <a:effectLst/>
                        </a:rPr>
                        <a:t>156</a:t>
                      </a:r>
                      <a:endParaRPr lang="ru-RU" sz="1100" b="1" i="0" u="none" strike="noStrike" dirty="0">
                        <a:solidFill>
                          <a:schemeClr val="accent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solidFill>
                            <a:schemeClr val="accent6"/>
                          </a:solidFill>
                          <a:effectLst/>
                        </a:rPr>
                        <a:t>4,4852</a:t>
                      </a:r>
                      <a:endParaRPr lang="ru-RU" sz="1100" b="1" i="0" u="none" strike="noStrike" dirty="0">
                        <a:solidFill>
                          <a:schemeClr val="accent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ru-RU" sz="11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-2197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effectLst/>
                        </a:rPr>
                        <a:t>0,000404</a:t>
                      </a:r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effectLst/>
                        </a:rPr>
                        <a:t>1,2%</a:t>
                      </a:r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ru-RU" sz="11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-8,4%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73856114"/>
                  </a:ext>
                </a:extLst>
              </a:tr>
              <a:tr h="187917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u="none" strike="noStrike" dirty="0">
                          <a:effectLst/>
                        </a:rPr>
                        <a:t>373</a:t>
                      </a:r>
                      <a:endParaRPr lang="ru-RU" sz="1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-6834</a:t>
                      </a:r>
                      <a:endParaRPr lang="ru-RU" sz="11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-14137</a:t>
                      </a:r>
                      <a:endParaRPr lang="ru-RU" sz="11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solidFill>
                            <a:schemeClr val="accent6"/>
                          </a:solidFill>
                          <a:effectLst/>
                        </a:rPr>
                        <a:t>41</a:t>
                      </a:r>
                      <a:endParaRPr lang="ru-RU" sz="1100" b="1" i="0" u="none" strike="noStrike" dirty="0">
                        <a:solidFill>
                          <a:schemeClr val="accent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-2,4767</a:t>
                      </a:r>
                      <a:endParaRPr lang="ru-RU" sz="11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ru-RU" sz="11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-6691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effectLst/>
                        </a:rPr>
                        <a:t>0,000768</a:t>
                      </a:r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u="none" strike="noStrike" dirty="0">
                          <a:effectLst/>
                        </a:rPr>
                        <a:t>1,0%</a:t>
                      </a:r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ru-RU" sz="11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-9,7%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5860313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013358"/>
              </p:ext>
            </p:extLst>
          </p:nvPr>
        </p:nvGraphicFramePr>
        <p:xfrm>
          <a:off x="989215" y="3528782"/>
          <a:ext cx="8171409" cy="1106383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864523">
                  <a:extLst>
                    <a:ext uri="{9D8B030D-6E8A-4147-A177-3AD203B41FA5}">
                      <a16:colId xmlns:a16="http://schemas.microsoft.com/office/drawing/2014/main" val="307368453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367231213"/>
                    </a:ext>
                  </a:extLst>
                </a:gridCol>
                <a:gridCol w="1155469">
                  <a:extLst>
                    <a:ext uri="{9D8B030D-6E8A-4147-A177-3AD203B41FA5}">
                      <a16:colId xmlns:a16="http://schemas.microsoft.com/office/drawing/2014/main" val="157669674"/>
                    </a:ext>
                  </a:extLst>
                </a:gridCol>
                <a:gridCol w="1072342">
                  <a:extLst>
                    <a:ext uri="{9D8B030D-6E8A-4147-A177-3AD203B41FA5}">
                      <a16:colId xmlns:a16="http://schemas.microsoft.com/office/drawing/2014/main" val="984069144"/>
                    </a:ext>
                  </a:extLst>
                </a:gridCol>
                <a:gridCol w="756458">
                  <a:extLst>
                    <a:ext uri="{9D8B030D-6E8A-4147-A177-3AD203B41FA5}">
                      <a16:colId xmlns:a16="http://schemas.microsoft.com/office/drawing/2014/main" val="1180036178"/>
                    </a:ext>
                  </a:extLst>
                </a:gridCol>
                <a:gridCol w="989215">
                  <a:extLst>
                    <a:ext uri="{9D8B030D-6E8A-4147-A177-3AD203B41FA5}">
                      <a16:colId xmlns:a16="http://schemas.microsoft.com/office/drawing/2014/main" val="1029428207"/>
                    </a:ext>
                  </a:extLst>
                </a:gridCol>
                <a:gridCol w="702470">
                  <a:extLst>
                    <a:ext uri="{9D8B030D-6E8A-4147-A177-3AD203B41FA5}">
                      <a16:colId xmlns:a16="http://schemas.microsoft.com/office/drawing/2014/main" val="1309030349"/>
                    </a:ext>
                  </a:extLst>
                </a:gridCol>
                <a:gridCol w="858266">
                  <a:extLst>
                    <a:ext uri="{9D8B030D-6E8A-4147-A177-3AD203B41FA5}">
                      <a16:colId xmlns:a16="http://schemas.microsoft.com/office/drawing/2014/main" val="3651040037"/>
                    </a:ext>
                  </a:extLst>
                </a:gridCol>
                <a:gridCol w="858266">
                  <a:extLst>
                    <a:ext uri="{9D8B030D-6E8A-4147-A177-3AD203B41FA5}">
                      <a16:colId xmlns:a16="http://schemas.microsoft.com/office/drawing/2014/main" val="3677480611"/>
                    </a:ext>
                  </a:extLst>
                </a:gridCol>
              </a:tblGrid>
              <a:tr h="336763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u="none" strike="noStrike" dirty="0" smtClean="0">
                          <a:effectLst/>
                        </a:rPr>
                        <a:t>Издательство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 smtClean="0">
                          <a:effectLst/>
                        </a:rPr>
                        <a:t>Pageviews</a:t>
                      </a:r>
                      <a:r>
                        <a:rPr lang="ru-RU" sz="1100" u="none" strike="noStrike" dirty="0" smtClean="0">
                          <a:effectLst/>
                        </a:rPr>
                        <a:t>, </a:t>
                      </a:r>
                      <a:r>
                        <a:rPr lang="ru-RU" sz="1100" u="none" strike="noStrike" dirty="0" err="1" smtClean="0">
                          <a:effectLst/>
                        </a:rPr>
                        <a:t>шт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visible_pageviews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sponsord_clicks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smtClean="0">
                          <a:effectLst/>
                        </a:rPr>
                        <a:t>Revenue</a:t>
                      </a:r>
                      <a:r>
                        <a:rPr lang="ru-RU" sz="1100" u="none" strike="noStrike" dirty="0" smtClean="0">
                          <a:effectLst/>
                        </a:rPr>
                        <a:t>,</a:t>
                      </a:r>
                      <a:r>
                        <a:rPr lang="en-US" sz="1100" u="none" strike="noStrike" dirty="0" smtClean="0">
                          <a:effectLst/>
                        </a:rPr>
                        <a:t>$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organic_clicks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smtClean="0">
                          <a:effectLst/>
                        </a:rPr>
                        <a:t>RPM, $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CTR_paid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CTR_organic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6196811"/>
                  </a:ext>
                </a:extLst>
              </a:tr>
              <a:tr h="187917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-6921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-5010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43,9411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-6765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0,002073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1,61%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-11,72%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95683085"/>
                  </a:ext>
                </a:extLst>
              </a:tr>
              <a:tr h="187917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-6833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-13446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7,5351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-9791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0,000243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0,9%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-9,6%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33820929"/>
                  </a:ext>
                </a:extLst>
              </a:tr>
              <a:tr h="187917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574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-12177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-8020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17,2834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-7644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0,000908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2,4%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-9,3%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24081051"/>
                  </a:ext>
                </a:extLst>
              </a:tr>
              <a:tr h="187917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700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-4388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-2982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136,5857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-3985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0,006369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1,8%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200" b="1" u="none" strike="noStrike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-11,7%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73856114"/>
                  </a:ext>
                </a:extLst>
              </a:tr>
            </a:tbl>
          </a:graphicData>
        </a:graphic>
      </p:graphicFrame>
      <p:sp>
        <p:nvSpPr>
          <p:cNvPr id="11" name="Объект 4"/>
          <p:cNvSpPr txBox="1">
            <a:spLocks/>
          </p:cNvSpPr>
          <p:nvPr/>
        </p:nvSpPr>
        <p:spPr>
          <a:xfrm>
            <a:off x="9410005" y="3995544"/>
            <a:ext cx="2177935" cy="36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 smtClean="0"/>
              <a:t>Mobile</a:t>
            </a: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21381356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61361"/>
          </a:xfrm>
        </p:spPr>
        <p:txBody>
          <a:bodyPr>
            <a:normAutofit/>
          </a:bodyPr>
          <a:lstStyle/>
          <a:p>
            <a:r>
              <a:rPr lang="ru-RU" sz="4000" b="1" dirty="0" smtClean="0"/>
              <a:t>Анализ поведения пользователей</a:t>
            </a:r>
            <a:endParaRPr lang="ru-RU" sz="4000" b="1" dirty="0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989217" y="5461462"/>
            <a:ext cx="9651074" cy="1304145"/>
          </a:xfrm>
        </p:spPr>
        <p:txBody>
          <a:bodyPr>
            <a:normAutofit fontScale="92500" lnSpcReduction="20000"/>
          </a:bodyPr>
          <a:lstStyle/>
          <a:p>
            <a:pPr marL="0" indent="0" algn="just">
              <a:buNone/>
            </a:pPr>
            <a:r>
              <a:rPr lang="ru-RU" sz="1700" b="1" dirty="0" smtClean="0"/>
              <a:t>Важно</a:t>
            </a:r>
            <a:r>
              <a:rPr lang="ru-RU" sz="1700" dirty="0" smtClean="0"/>
              <a:t>: количество </a:t>
            </a:r>
            <a:r>
              <a:rPr lang="ru-RU" sz="1700" dirty="0" smtClean="0"/>
              <a:t>сессий практически не изменилось (пользователи возвращаются), но снизилось общее количество загруженных страниц и резко упало количество страниц, где пользователь видел нашу ленту.</a:t>
            </a:r>
          </a:p>
          <a:p>
            <a:pPr marL="0" indent="0">
              <a:buNone/>
            </a:pPr>
            <a:r>
              <a:rPr lang="ru-RU" sz="1700" b="1" dirty="0" smtClean="0"/>
              <a:t>Вывод</a:t>
            </a:r>
            <a:r>
              <a:rPr lang="ru-RU" sz="1700" dirty="0" smtClean="0"/>
              <a:t>: </a:t>
            </a:r>
            <a:br>
              <a:rPr lang="ru-RU" sz="1700" dirty="0" smtClean="0"/>
            </a:br>
            <a:r>
              <a:rPr lang="ru-RU" sz="1700" dirty="0" smtClean="0"/>
              <a:t> - пользователи стали чаще кликать на рекламный контент и не возвращаться обратно на сайт. </a:t>
            </a:r>
            <a:r>
              <a:rPr lang="ru-RU" sz="1700" dirty="0" smtClean="0"/>
              <a:t>Это </a:t>
            </a:r>
            <a:r>
              <a:rPr lang="ru-RU" sz="1700" dirty="0" smtClean="0"/>
              <a:t>подтверждается снижением глубины просмотра.</a:t>
            </a:r>
            <a:r>
              <a:rPr lang="ru-RU" sz="1700" dirty="0"/>
              <a:t> </a:t>
            </a:r>
            <a:r>
              <a:rPr lang="ru-RU" sz="1700" dirty="0" smtClean="0"/>
              <a:t/>
            </a:r>
            <a:br>
              <a:rPr lang="ru-RU" sz="1700" dirty="0" smtClean="0"/>
            </a:br>
            <a:r>
              <a:rPr lang="ru-RU" sz="1700" dirty="0"/>
              <a:t> </a:t>
            </a:r>
            <a:r>
              <a:rPr lang="ru-RU" sz="1700" dirty="0" smtClean="0"/>
              <a:t>-</a:t>
            </a:r>
            <a:r>
              <a:rPr lang="ru-RU" sz="1700" dirty="0" smtClean="0"/>
              <a:t> </a:t>
            </a:r>
            <a:r>
              <a:rPr lang="ru-RU" sz="1700" dirty="0" smtClean="0"/>
              <a:t>снижение </a:t>
            </a:r>
            <a:r>
              <a:rPr lang="en-US" sz="1700" dirty="0" smtClean="0"/>
              <a:t>CPC</a:t>
            </a:r>
            <a:r>
              <a:rPr lang="ru-RU" sz="1700" dirty="0" smtClean="0"/>
              <a:t> на </a:t>
            </a:r>
            <a:r>
              <a:rPr lang="en-US" sz="1700" dirty="0" smtClean="0"/>
              <a:t>Desktop</a:t>
            </a:r>
            <a:r>
              <a:rPr lang="ru-RU" sz="1700" dirty="0" smtClean="0"/>
              <a:t> усугубило результат и привело к падению прибыли </a:t>
            </a:r>
          </a:p>
        </p:txBody>
      </p:sp>
      <p:sp>
        <p:nvSpPr>
          <p:cNvPr id="9" name="Объект 4"/>
          <p:cNvSpPr txBox="1">
            <a:spLocks/>
          </p:cNvSpPr>
          <p:nvPr/>
        </p:nvSpPr>
        <p:spPr>
          <a:xfrm>
            <a:off x="9293629" y="2872453"/>
            <a:ext cx="2177935" cy="124257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1800" dirty="0" smtClean="0"/>
              <a:t>Относительный прирост/падение показателей группы В к группе А по каждой платформе</a:t>
            </a:r>
            <a:endParaRPr lang="ru-RU" sz="1800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26023"/>
            <a:ext cx="8372301" cy="3935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766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8466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000" b="1" dirty="0" smtClean="0"/>
              <a:t>Вывод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913467"/>
            <a:ext cx="10515600" cy="4555066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/>
              <a:t>Эксперимент оптимизирует краткосрочную монетизацию, но создаёт риск снижения ценности платформы для пользователей и издателей. </a:t>
            </a: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Поэтому </a:t>
            </a:r>
            <a:r>
              <a:rPr lang="ru-RU" dirty="0"/>
              <a:t>предлагается ограниченное внедрение с обязательным мониторингом </a:t>
            </a:r>
            <a:r>
              <a:rPr lang="ru-RU" dirty="0" err="1"/>
              <a:t>retention</a:t>
            </a:r>
            <a:r>
              <a:rPr lang="ru-RU" dirty="0"/>
              <a:t> и поведения </a:t>
            </a:r>
            <a:r>
              <a:rPr lang="ru-RU"/>
              <a:t>пользователей</a:t>
            </a:r>
            <a:r>
              <a:rPr lang="ru-RU" smtClean="0"/>
              <a:t>:</a:t>
            </a:r>
          </a:p>
          <a:p>
            <a:pPr marL="0" indent="0">
              <a:buNone/>
            </a:pPr>
            <a:endParaRPr lang="ru-RU" dirty="0"/>
          </a:p>
          <a:p>
            <a:pPr lvl="0"/>
            <a:r>
              <a:rPr lang="ru-RU" b="1" dirty="0"/>
              <a:t>Внедрить изменения только на платформе </a:t>
            </a:r>
            <a:r>
              <a:rPr lang="en-US" b="1" dirty="0"/>
              <a:t>Mobile</a:t>
            </a:r>
            <a:endParaRPr lang="ru-RU" dirty="0"/>
          </a:p>
          <a:p>
            <a:pPr lvl="0"/>
            <a:r>
              <a:rPr lang="ru-RU" b="1" dirty="0"/>
              <a:t>Откатить изменения на платформе </a:t>
            </a:r>
            <a:r>
              <a:rPr lang="en-US" b="1" dirty="0"/>
              <a:t>Desktop</a:t>
            </a:r>
            <a:endParaRPr lang="ru-RU" dirty="0"/>
          </a:p>
          <a:p>
            <a:pPr lvl="0"/>
            <a:r>
              <a:rPr lang="ru-RU" b="1" dirty="0" err="1"/>
              <a:t>Мониторить</a:t>
            </a:r>
            <a:r>
              <a:rPr lang="ru-RU" b="1" dirty="0"/>
              <a:t> органические ссылки ежедневно 2 недели</a:t>
            </a:r>
            <a:endParaRPr lang="ru-RU" dirty="0"/>
          </a:p>
          <a:p>
            <a:pPr lvl="0"/>
            <a:r>
              <a:rPr lang="ru-RU" b="1" dirty="0"/>
              <a:t>Замерить </a:t>
            </a:r>
            <a:r>
              <a:rPr lang="en-US" b="1" dirty="0"/>
              <a:t>Retention </a:t>
            </a:r>
            <a:r>
              <a:rPr lang="ru-RU" b="1" dirty="0"/>
              <a:t>на 15, 30 дни (оценить долгосрочное влияние)</a:t>
            </a:r>
            <a:endParaRPr lang="ru-RU" dirty="0"/>
          </a:p>
          <a:p>
            <a:pPr lvl="0"/>
            <a:r>
              <a:rPr lang="ru-RU" b="1" dirty="0"/>
              <a:t>Начать новый тест на </a:t>
            </a:r>
            <a:r>
              <a:rPr lang="en-US" b="1" dirty="0"/>
              <a:t>Desktop </a:t>
            </a:r>
            <a:endParaRPr lang="ru-RU" dirty="0"/>
          </a:p>
          <a:p>
            <a:pPr lvl="0"/>
            <a:r>
              <a:rPr lang="ru-RU" b="1" dirty="0"/>
              <a:t>Выставляем критический уровень падения для </a:t>
            </a:r>
            <a:r>
              <a:rPr lang="en-US" b="1" dirty="0"/>
              <a:t>Organic click</a:t>
            </a:r>
            <a:endParaRPr lang="ru-RU" dirty="0"/>
          </a:p>
          <a:p>
            <a:pPr lvl="0"/>
            <a:r>
              <a:rPr lang="ru-RU" b="1" dirty="0"/>
              <a:t>Готовность откатить изменения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844460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1735</TotalTime>
  <Words>403</Words>
  <Application>Microsoft Office PowerPoint</Application>
  <PresentationFormat>Широкоэкранный</PresentationFormat>
  <Paragraphs>138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Тема Office</vt:lpstr>
      <vt:lpstr>АВ-тест обновления рекламной ленты</vt:lpstr>
      <vt:lpstr>Общая информация об эксперименте</vt:lpstr>
      <vt:lpstr>Итоговый результат теста по платформам</vt:lpstr>
      <vt:lpstr>Обоснование полученных результатов</vt:lpstr>
      <vt:lpstr>Анализ влияния теста на издательства</vt:lpstr>
      <vt:lpstr>Анализ поведения пользователей</vt:lpstr>
      <vt:lpstr>Презентация PowerPoint</vt:lpstr>
      <vt:lpstr>Вывод</vt:lpstr>
    </vt:vector>
  </TitlesOfParts>
  <Company>diakov.net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АВ-тест обновления рекламной ленты</dc:title>
  <dc:creator>RePack by Diakov</dc:creator>
  <cp:lastModifiedBy>RePack by Diakov</cp:lastModifiedBy>
  <cp:revision>32</cp:revision>
  <dcterms:created xsi:type="dcterms:W3CDTF">2026-02-20T16:34:02Z</dcterms:created>
  <dcterms:modified xsi:type="dcterms:W3CDTF">2026-02-26T19:44:27Z</dcterms:modified>
</cp:coreProperties>
</file>