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16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666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213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50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3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9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3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21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30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790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042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88B3E-6BDF-447D-927C-7173740618A1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E027C-3A7B-45AA-B075-63D11D2149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80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AB_test_Marketplete.docx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56823" y="231821"/>
            <a:ext cx="10483401" cy="2537138"/>
          </a:xfrm>
        </p:spPr>
        <p:txBody>
          <a:bodyPr/>
          <a:lstStyle/>
          <a:p>
            <a:r>
              <a:rPr lang="ru-RU" b="1" dirty="0" smtClean="0"/>
              <a:t>АВ-тест обновления рекламной ленты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26523" y="2961958"/>
            <a:ext cx="9144000" cy="72307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период с 01.03.2019 по 07.03.2019</a:t>
            </a:r>
            <a:endParaRPr lang="en-US" dirty="0" smtClean="0"/>
          </a:p>
          <a:p>
            <a:r>
              <a:rPr lang="ru-RU" dirty="0" smtClean="0"/>
              <a:t>Ключевые особенности: стратификация по платформам </a:t>
            </a:r>
            <a:r>
              <a:rPr lang="ru-RU" dirty="0"/>
              <a:t>(</a:t>
            </a:r>
            <a:r>
              <a:rPr lang="en-US" dirty="0"/>
              <a:t>mobile, desktop)</a:t>
            </a:r>
            <a:endParaRPr lang="ru-RU" dirty="0"/>
          </a:p>
          <a:p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326523" y="5638655"/>
            <a:ext cx="9144000" cy="101983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 smtClean="0"/>
              <a:t>Ключевые особенности:</a:t>
            </a:r>
            <a:br>
              <a:rPr lang="ru-RU" sz="1800" dirty="0" smtClean="0"/>
            </a:br>
            <a:r>
              <a:rPr lang="ru-RU" sz="1800" dirty="0" smtClean="0"/>
              <a:t>- стратификация по платформам (</a:t>
            </a:r>
            <a:r>
              <a:rPr lang="en-US" sz="1800" dirty="0" smtClean="0"/>
              <a:t>mobile, desktop)</a:t>
            </a: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>- данные за 05.03.2019 были исключены как не релевантные.</a:t>
            </a:r>
            <a:br>
              <a:rPr lang="ru-RU" sz="1800" dirty="0" smtClean="0"/>
            </a:br>
            <a:r>
              <a:rPr lang="ru-RU" sz="1800" dirty="0" smtClean="0"/>
              <a:t>- подробный отчет по этапам, методам, анализу и выводам изложен отдельным файлом </a:t>
            </a:r>
            <a:endParaRPr lang="ru-RU" sz="1800" dirty="0"/>
          </a:p>
          <a:p>
            <a:pPr algn="l"/>
            <a:endParaRPr lang="ru-RU" sz="18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776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779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Общая информация об </a:t>
            </a:r>
            <a:r>
              <a:rPr lang="ru-RU" sz="4000" b="1" dirty="0" smtClean="0">
                <a:hlinkClick r:id="rId2" action="ppaction://hlinkfile"/>
              </a:rPr>
              <a:t>эксперименте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17904"/>
            <a:ext cx="10515600" cy="5273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 smtClean="0"/>
              <a:t>Цель</a:t>
            </a:r>
            <a:r>
              <a:rPr lang="ru-RU" sz="1800" dirty="0" smtClean="0"/>
              <a:t>: </a:t>
            </a:r>
            <a:br>
              <a:rPr lang="ru-RU" sz="1800" dirty="0" smtClean="0"/>
            </a:br>
            <a:r>
              <a:rPr lang="ru-RU" sz="1800" dirty="0" smtClean="0"/>
              <a:t>сравниваем 2 сегмента пользователей: </a:t>
            </a:r>
            <a:br>
              <a:rPr lang="ru-RU" sz="1800" dirty="0" smtClean="0"/>
            </a:br>
            <a:r>
              <a:rPr lang="ru-RU" sz="1800" dirty="0" smtClean="0"/>
              <a:t>1) видят обычную ленту объявлений (органический элемент вверху, 4 рекламных внизу)</a:t>
            </a:r>
            <a:br>
              <a:rPr lang="ru-RU" sz="1800" dirty="0" smtClean="0"/>
            </a:br>
            <a:r>
              <a:rPr lang="ru-RU" sz="1800" dirty="0" smtClean="0"/>
              <a:t>2) видят обновленную ленту объявлений (4 рекламных элемента вверху, органический элемент внизу)</a:t>
            </a:r>
          </a:p>
          <a:p>
            <a:pPr marL="0" indent="0">
              <a:buNone/>
            </a:pPr>
            <a:r>
              <a:rPr lang="ru-RU" sz="1800" b="1" dirty="0" smtClean="0"/>
              <a:t>Описание </a:t>
            </a:r>
            <a:r>
              <a:rPr lang="ru-RU" sz="1800" b="1" dirty="0"/>
              <a:t>проекта:</a:t>
            </a:r>
          </a:p>
          <a:p>
            <a:pPr marL="0" indent="0">
              <a:buNone/>
            </a:pPr>
            <a:r>
              <a:rPr lang="ru-RU" sz="1800" dirty="0" smtClean="0"/>
              <a:t>Эксперимент:</a:t>
            </a:r>
            <a:br>
              <a:rPr lang="ru-RU" sz="1800" dirty="0" smtClean="0"/>
            </a:br>
            <a:r>
              <a:rPr lang="ru-RU" sz="1800" dirty="0" smtClean="0"/>
              <a:t>Вариант А – контрольный</a:t>
            </a:r>
            <a:br>
              <a:rPr lang="ru-RU" sz="1800" dirty="0" smtClean="0"/>
            </a:br>
            <a:r>
              <a:rPr lang="ru-RU" sz="1800" dirty="0" smtClean="0"/>
              <a:t>Вариант В – тестовый</a:t>
            </a:r>
          </a:p>
          <a:p>
            <a:pPr marL="0" indent="0">
              <a:buNone/>
            </a:pPr>
            <a:r>
              <a:rPr lang="ru-RU" sz="1800" dirty="0" smtClean="0"/>
              <a:t>Что рассчитать:</a:t>
            </a:r>
            <a:br>
              <a:rPr lang="ru-RU" sz="1800" dirty="0" smtClean="0"/>
            </a:br>
            <a:r>
              <a:rPr lang="ru-RU" sz="1800" dirty="0" smtClean="0"/>
              <a:t> - прибыль от перехода по рекламным элементам</a:t>
            </a:r>
            <a:br>
              <a:rPr lang="ru-RU" sz="1800" dirty="0" smtClean="0"/>
            </a:br>
            <a:r>
              <a:rPr lang="ru-RU" sz="1800" dirty="0" smtClean="0"/>
              <a:t> - конверсию перехода по рекламным элементам</a:t>
            </a:r>
            <a:br>
              <a:rPr lang="ru-RU" sz="1800" dirty="0" smtClean="0"/>
            </a:br>
            <a:r>
              <a:rPr lang="ru-RU" sz="1800" dirty="0" smtClean="0"/>
              <a:t> - конверсию перехода по органическим элементам</a:t>
            </a:r>
          </a:p>
          <a:p>
            <a:pPr marL="0" indent="0">
              <a:buNone/>
            </a:pPr>
            <a:r>
              <a:rPr lang="ru-RU" sz="1800" dirty="0" smtClean="0"/>
              <a:t>Даты эксперимента: с 01.03.2019 по 07.03.2019</a:t>
            </a:r>
          </a:p>
          <a:p>
            <a:pPr marL="0" indent="0">
              <a:buNone/>
            </a:pPr>
            <a:r>
              <a:rPr lang="ru-RU" sz="1800" dirty="0" smtClean="0"/>
              <a:t>Необходимо сравнить в группах следующие метрики:</a:t>
            </a:r>
            <a:br>
              <a:rPr lang="ru-RU" sz="1800" dirty="0" smtClean="0"/>
            </a:br>
            <a:r>
              <a:rPr lang="ru-RU" sz="1800" dirty="0" smtClean="0"/>
              <a:t> - </a:t>
            </a:r>
            <a:r>
              <a:rPr lang="en-US" sz="1800" dirty="0" smtClean="0"/>
              <a:t>RPM</a:t>
            </a:r>
            <a:r>
              <a:rPr lang="ru-RU" sz="1800" dirty="0" smtClean="0"/>
              <a:t>: доход на 1000 просмотров страниц</a:t>
            </a:r>
            <a:br>
              <a:rPr lang="ru-RU" sz="1800" dirty="0" smtClean="0"/>
            </a:br>
            <a:r>
              <a:rPr lang="ru-RU" sz="1800" dirty="0" smtClean="0"/>
              <a:t> - </a:t>
            </a:r>
            <a:r>
              <a:rPr lang="en-US" sz="1800" dirty="0" smtClean="0"/>
              <a:t>RPS</a:t>
            </a:r>
            <a:r>
              <a:rPr lang="ru-RU" sz="1800" dirty="0" smtClean="0"/>
              <a:t>: доход на 1000 сессий</a:t>
            </a:r>
            <a:br>
              <a:rPr lang="ru-RU" sz="1800" dirty="0" smtClean="0"/>
            </a:br>
            <a:r>
              <a:rPr lang="ru-RU" sz="1800" dirty="0" smtClean="0"/>
              <a:t> - </a:t>
            </a:r>
            <a:r>
              <a:rPr lang="en-US" sz="1800" dirty="0" smtClean="0"/>
              <a:t>Paid/Organic CTR</a:t>
            </a:r>
            <a:r>
              <a:rPr lang="ru-RU" sz="1800" dirty="0" smtClean="0"/>
              <a:t>: конверсия перехода по рекламным и органическим ссылкам</a:t>
            </a:r>
            <a:br>
              <a:rPr lang="ru-RU" sz="1800" dirty="0" smtClean="0"/>
            </a:br>
            <a:r>
              <a:rPr lang="ru-RU" sz="1800" dirty="0" smtClean="0"/>
              <a:t> - Количество просмотров за сессию</a:t>
            </a:r>
          </a:p>
          <a:p>
            <a:pPr marL="0" indent="0">
              <a:buNone/>
            </a:pPr>
            <a:endParaRPr lang="ru-RU" sz="1800" dirty="0" smtClean="0"/>
          </a:p>
          <a:p>
            <a:pPr marL="0" indent="0">
              <a:buNone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65700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9355"/>
          </a:xfrm>
        </p:spPr>
        <p:txBody>
          <a:bodyPr>
            <a:noAutofit/>
          </a:bodyPr>
          <a:lstStyle/>
          <a:p>
            <a:r>
              <a:rPr lang="ru-RU" sz="4000" b="1" dirty="0" smtClean="0"/>
              <a:t>Итоговый результат теста по платформам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200" y="5561214"/>
            <a:ext cx="4082935" cy="12043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 smtClean="0"/>
              <a:t>Desktop</a:t>
            </a:r>
          </a:p>
          <a:p>
            <a:pPr marL="0" indent="0">
              <a:buNone/>
            </a:pPr>
            <a:r>
              <a:rPr lang="ru-RU" sz="1600" b="1" dirty="0" smtClean="0">
                <a:solidFill>
                  <a:schemeClr val="accent6"/>
                </a:solidFill>
              </a:rPr>
              <a:t>Рост:</a:t>
            </a:r>
            <a:r>
              <a:rPr lang="ru-RU" sz="1600" dirty="0" smtClean="0"/>
              <a:t> </a:t>
            </a:r>
            <a:r>
              <a:rPr lang="en-US" sz="1600" b="1" dirty="0" smtClean="0"/>
              <a:t>RPM</a:t>
            </a:r>
            <a:r>
              <a:rPr lang="ru-RU" sz="1600" dirty="0"/>
              <a:t>,</a:t>
            </a:r>
            <a:r>
              <a:rPr lang="ru-RU" sz="1600" dirty="0" smtClean="0"/>
              <a:t> </a:t>
            </a:r>
            <a:r>
              <a:rPr lang="en-US" sz="1600" b="1" dirty="0" smtClean="0"/>
              <a:t>CTR</a:t>
            </a:r>
            <a:r>
              <a:rPr lang="ru-RU" sz="1600" dirty="0" smtClean="0"/>
              <a:t>-реклама.</a:t>
            </a:r>
          </a:p>
          <a:p>
            <a:pPr marL="0" indent="0">
              <a:buNone/>
            </a:pPr>
            <a:r>
              <a:rPr lang="ru-RU" sz="1600" b="1" dirty="0" smtClean="0">
                <a:solidFill>
                  <a:srgbClr val="FF0000"/>
                </a:solidFill>
              </a:rPr>
              <a:t>Падение:</a:t>
            </a:r>
            <a:r>
              <a:rPr lang="ru-RU" sz="1600" dirty="0" smtClean="0"/>
              <a:t> </a:t>
            </a:r>
            <a:r>
              <a:rPr lang="en-US" sz="1600" b="1" dirty="0" smtClean="0"/>
              <a:t>Revenue</a:t>
            </a:r>
            <a:r>
              <a:rPr lang="ru-RU" sz="1600" b="1" dirty="0" smtClean="0"/>
              <a:t>,</a:t>
            </a:r>
            <a:r>
              <a:rPr lang="en-US" sz="1600" b="1" dirty="0" smtClean="0"/>
              <a:t> RPS, CTR</a:t>
            </a:r>
            <a:r>
              <a:rPr lang="ru-RU" sz="1600" b="1" dirty="0" smtClean="0"/>
              <a:t>-</a:t>
            </a:r>
            <a:r>
              <a:rPr lang="ru-RU" sz="1600" dirty="0" smtClean="0"/>
              <a:t>органика.</a:t>
            </a:r>
            <a:br>
              <a:rPr lang="ru-RU" sz="1600" dirty="0" smtClean="0"/>
            </a:br>
            <a:endParaRPr lang="ru-RU" sz="1600" dirty="0" smtClean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3042"/>
            <a:ext cx="8372302" cy="3998422"/>
          </a:xfrm>
          <a:prstGeom prst="rect">
            <a:avLst/>
          </a:prstGeom>
        </p:spPr>
      </p:pic>
      <p:sp>
        <p:nvSpPr>
          <p:cNvPr id="9" name="Объект 4"/>
          <p:cNvSpPr txBox="1">
            <a:spLocks/>
          </p:cNvSpPr>
          <p:nvPr/>
        </p:nvSpPr>
        <p:spPr>
          <a:xfrm>
            <a:off x="9293629" y="2905473"/>
            <a:ext cx="2177935" cy="12425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Относительный прирост/падение показателей группы В к группе А по каждой платформе</a:t>
            </a:r>
            <a:endParaRPr lang="ru-RU" sz="1800" dirty="0"/>
          </a:p>
        </p:txBody>
      </p:sp>
      <p:sp>
        <p:nvSpPr>
          <p:cNvPr id="10" name="Объект 4"/>
          <p:cNvSpPr txBox="1">
            <a:spLocks/>
          </p:cNvSpPr>
          <p:nvPr/>
        </p:nvSpPr>
        <p:spPr>
          <a:xfrm>
            <a:off x="5418514" y="5561213"/>
            <a:ext cx="3875116" cy="1204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smtClean="0"/>
              <a:t>Mobile</a:t>
            </a:r>
          </a:p>
          <a:p>
            <a:pPr marL="0" indent="0">
              <a:buNone/>
            </a:pPr>
            <a:r>
              <a:rPr lang="ru-RU" sz="1600" b="1" dirty="0" smtClean="0">
                <a:solidFill>
                  <a:schemeClr val="accent6"/>
                </a:solidFill>
              </a:rPr>
              <a:t>Рост:</a:t>
            </a:r>
            <a:r>
              <a:rPr lang="ru-RU" sz="1600" dirty="0" smtClean="0"/>
              <a:t> </a:t>
            </a:r>
            <a:r>
              <a:rPr lang="en-US" sz="1600" b="1" dirty="0" smtClean="0"/>
              <a:t>Revenue, </a:t>
            </a:r>
            <a:r>
              <a:rPr lang="en-US" sz="1600" b="1" dirty="0" smtClean="0"/>
              <a:t>RPM</a:t>
            </a:r>
            <a:r>
              <a:rPr lang="ru-RU" sz="1600" dirty="0" smtClean="0"/>
              <a:t>,</a:t>
            </a:r>
            <a:r>
              <a:rPr lang="en-US" sz="1600" dirty="0" smtClean="0"/>
              <a:t> </a:t>
            </a:r>
            <a:r>
              <a:rPr lang="en-US" sz="1600" b="1" dirty="0" smtClean="0"/>
              <a:t>RPS,</a:t>
            </a:r>
            <a:r>
              <a:rPr lang="ru-RU" sz="1600" dirty="0" smtClean="0"/>
              <a:t> </a:t>
            </a:r>
            <a:r>
              <a:rPr lang="en-US" sz="1600" b="1" dirty="0" smtClean="0"/>
              <a:t>CTR</a:t>
            </a:r>
            <a:r>
              <a:rPr lang="ru-RU" sz="1600" dirty="0" smtClean="0"/>
              <a:t>-реклама.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sz="1600" b="1" dirty="0" smtClean="0">
                <a:solidFill>
                  <a:srgbClr val="FF0000"/>
                </a:solidFill>
              </a:rPr>
              <a:t>Падение:</a:t>
            </a:r>
            <a:r>
              <a:rPr lang="en-US" sz="1600" b="1" dirty="0" smtClean="0"/>
              <a:t> CTR</a:t>
            </a:r>
            <a:r>
              <a:rPr lang="ru-RU" sz="1600" b="1" dirty="0" smtClean="0"/>
              <a:t>-</a:t>
            </a:r>
            <a:r>
              <a:rPr lang="ru-RU" sz="1600" dirty="0" smtClean="0"/>
              <a:t>органика.</a:t>
            </a:r>
            <a:br>
              <a:rPr lang="ru-RU" sz="1600" dirty="0" smtClean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7101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1361"/>
          </a:xfrm>
        </p:spPr>
        <p:txBody>
          <a:bodyPr>
            <a:normAutofit/>
          </a:bodyPr>
          <a:lstStyle/>
          <a:p>
            <a:r>
              <a:rPr lang="ru-RU" sz="4000" b="1" dirty="0" smtClean="0"/>
              <a:t>Обоснование полученных результатов</a:t>
            </a:r>
            <a:endParaRPr lang="ru-RU" sz="4000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38200" y="5461462"/>
            <a:ext cx="10515600" cy="13041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1700" dirty="0" smtClean="0"/>
              <a:t>Количество сессий практически не изменилось (пользователи возвращаются), но снизилось общее количество загруженных страниц и резко упало количество страниц, где пользователь видел нашу ленту.</a:t>
            </a:r>
          </a:p>
          <a:p>
            <a:pPr marL="0" indent="0">
              <a:buNone/>
            </a:pPr>
            <a:r>
              <a:rPr lang="ru-RU" sz="1700" b="1" dirty="0" smtClean="0"/>
              <a:t>Вывод</a:t>
            </a:r>
            <a:r>
              <a:rPr lang="ru-RU" sz="1700" dirty="0" smtClean="0"/>
              <a:t>: </a:t>
            </a:r>
            <a:br>
              <a:rPr lang="ru-RU" sz="1700" dirty="0" smtClean="0"/>
            </a:br>
            <a:r>
              <a:rPr lang="ru-RU" sz="1700" dirty="0" smtClean="0"/>
              <a:t> - пользователи стали чаще кликать на рекламный контент и не возвращаться обратно на сайт. Это подтверждается снижением глубины просмотра.</a:t>
            </a:r>
            <a:r>
              <a:rPr lang="ru-RU" sz="1700" dirty="0"/>
              <a:t> </a:t>
            </a:r>
            <a:r>
              <a:rPr lang="ru-RU" sz="1700" dirty="0" smtClean="0"/>
              <a:t>А снижение </a:t>
            </a:r>
            <a:r>
              <a:rPr lang="en-US" sz="1700" dirty="0" smtClean="0"/>
              <a:t>CPC</a:t>
            </a:r>
            <a:r>
              <a:rPr lang="ru-RU" sz="1700" dirty="0" smtClean="0"/>
              <a:t> на </a:t>
            </a:r>
            <a:r>
              <a:rPr lang="en-US" sz="1700" dirty="0" smtClean="0"/>
              <a:t>Desktop</a:t>
            </a:r>
            <a:r>
              <a:rPr lang="ru-RU" sz="1700" dirty="0" smtClean="0"/>
              <a:t> усугубило результат и привело к падению прибыли </a:t>
            </a:r>
          </a:p>
        </p:txBody>
      </p:sp>
      <p:sp>
        <p:nvSpPr>
          <p:cNvPr id="9" name="Объект 4"/>
          <p:cNvSpPr txBox="1">
            <a:spLocks/>
          </p:cNvSpPr>
          <p:nvPr/>
        </p:nvSpPr>
        <p:spPr>
          <a:xfrm>
            <a:off x="9293629" y="2905473"/>
            <a:ext cx="2177935" cy="12425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800" dirty="0" smtClean="0"/>
              <a:t>Относительный прирост/падение показателей группы В к группе А по каждой платформе</a:t>
            </a:r>
            <a:endParaRPr lang="ru-RU" sz="1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6023"/>
            <a:ext cx="8372301" cy="393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6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b="1" dirty="0" smtClean="0"/>
              <a:t>Вывод</a:t>
            </a:r>
            <a:endParaRPr lang="ru-RU" sz="4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13467"/>
            <a:ext cx="10515600" cy="455506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Эксперимент оптимизирует краткосрочную монетизацию, но создаёт риск снижения ценности платформы для пользователей и издателей.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Поэтому </a:t>
            </a:r>
            <a:r>
              <a:rPr lang="ru-RU" dirty="0"/>
              <a:t>предлагается ограниченное внедрение с обязательным мониторингом </a:t>
            </a:r>
            <a:r>
              <a:rPr lang="ru-RU" dirty="0" err="1"/>
              <a:t>retention</a:t>
            </a:r>
            <a:r>
              <a:rPr lang="ru-RU" dirty="0"/>
              <a:t> и поведения </a:t>
            </a:r>
            <a:r>
              <a:rPr lang="ru-RU"/>
              <a:t>пользователей</a:t>
            </a:r>
            <a:r>
              <a:rPr lang="ru-RU" smtClean="0"/>
              <a:t>:</a:t>
            </a:r>
          </a:p>
          <a:p>
            <a:pPr marL="0" indent="0">
              <a:buNone/>
            </a:pPr>
            <a:endParaRPr lang="ru-RU" dirty="0"/>
          </a:p>
          <a:p>
            <a:pPr lvl="0"/>
            <a:r>
              <a:rPr lang="ru-RU" b="1" dirty="0"/>
              <a:t>Внедрить изменения только на платформе </a:t>
            </a:r>
            <a:r>
              <a:rPr lang="en-US" b="1" dirty="0"/>
              <a:t>Mobile</a:t>
            </a:r>
            <a:endParaRPr lang="ru-RU" dirty="0"/>
          </a:p>
          <a:p>
            <a:pPr lvl="0"/>
            <a:r>
              <a:rPr lang="ru-RU" b="1" dirty="0"/>
              <a:t>Откатить изменения на платформе </a:t>
            </a:r>
            <a:r>
              <a:rPr lang="en-US" b="1" dirty="0"/>
              <a:t>Desktop</a:t>
            </a:r>
            <a:endParaRPr lang="ru-RU" dirty="0"/>
          </a:p>
          <a:p>
            <a:pPr lvl="0"/>
            <a:r>
              <a:rPr lang="ru-RU" b="1" dirty="0" err="1"/>
              <a:t>Мониторить</a:t>
            </a:r>
            <a:r>
              <a:rPr lang="ru-RU" b="1" dirty="0"/>
              <a:t> органические ссылки ежедневно 2 недели</a:t>
            </a:r>
            <a:endParaRPr lang="ru-RU" dirty="0"/>
          </a:p>
          <a:p>
            <a:pPr lvl="0"/>
            <a:r>
              <a:rPr lang="ru-RU" b="1" dirty="0"/>
              <a:t>Замерить </a:t>
            </a:r>
            <a:r>
              <a:rPr lang="en-US" b="1" dirty="0"/>
              <a:t>Retention </a:t>
            </a:r>
            <a:r>
              <a:rPr lang="ru-RU" b="1" dirty="0"/>
              <a:t>на 15, 30 дни (оценить долгосрочное влияние)</a:t>
            </a:r>
            <a:endParaRPr lang="ru-RU" dirty="0"/>
          </a:p>
          <a:p>
            <a:pPr lvl="0"/>
            <a:r>
              <a:rPr lang="ru-RU" b="1" dirty="0"/>
              <a:t>Начать новый тест на </a:t>
            </a:r>
            <a:r>
              <a:rPr lang="en-US" b="1" dirty="0"/>
              <a:t>Desktop </a:t>
            </a:r>
            <a:endParaRPr lang="ru-RU" dirty="0"/>
          </a:p>
          <a:p>
            <a:pPr lvl="0"/>
            <a:r>
              <a:rPr lang="ru-RU" b="1" dirty="0"/>
              <a:t>Выставляем критический уровень падения для </a:t>
            </a:r>
            <a:r>
              <a:rPr lang="en-US" b="1" dirty="0"/>
              <a:t>Organic click</a:t>
            </a:r>
            <a:endParaRPr lang="ru-RU" dirty="0"/>
          </a:p>
          <a:p>
            <a:pPr lvl="0"/>
            <a:r>
              <a:rPr lang="ru-RU" b="1" dirty="0"/>
              <a:t>Готовность откатить изменения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4446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195</Words>
  <Application>Microsoft Office PowerPoint</Application>
  <PresentationFormat>Широкоэкранный</PresentationFormat>
  <Paragraphs>34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АВ-тест обновления рекламной ленты</vt:lpstr>
      <vt:lpstr>Общая информация об эксперименте</vt:lpstr>
      <vt:lpstr>Итоговый результат теста по платформам</vt:lpstr>
      <vt:lpstr>Обоснование полученных результатов</vt:lpstr>
      <vt:lpstr>Вывод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АВ-тест обновления рекламной ленты</dc:title>
  <dc:creator>RePack by Diakov</dc:creator>
  <cp:lastModifiedBy>RePack by Diakov</cp:lastModifiedBy>
  <cp:revision>21</cp:revision>
  <dcterms:created xsi:type="dcterms:W3CDTF">2026-02-20T16:34:02Z</dcterms:created>
  <dcterms:modified xsi:type="dcterms:W3CDTF">2026-02-21T17:22:07Z</dcterms:modified>
</cp:coreProperties>
</file>