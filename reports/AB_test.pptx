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16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66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21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5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3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9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21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30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90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04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8B3E-6BDF-447D-927C-7173740618A1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80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AB_test_Marketplete.doc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6823" y="231822"/>
            <a:ext cx="10483401" cy="1887924"/>
          </a:xfrm>
        </p:spPr>
        <p:txBody>
          <a:bodyPr/>
          <a:lstStyle/>
          <a:p>
            <a:r>
              <a:rPr lang="ru-RU" b="1" dirty="0" smtClean="0"/>
              <a:t>АВ-тест обновления рекламной ленты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26523" y="2961958"/>
            <a:ext cx="9144000" cy="72307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период с 01.03.2019 по 07.03.2019</a:t>
            </a:r>
            <a:endParaRPr lang="en-US" dirty="0" smtClean="0"/>
          </a:p>
          <a:p>
            <a:r>
              <a:rPr lang="ru-RU" dirty="0" smtClean="0"/>
              <a:t>Ключевые особенности: стратификация по платформам </a:t>
            </a:r>
            <a:r>
              <a:rPr lang="ru-RU" dirty="0"/>
              <a:t>(</a:t>
            </a:r>
            <a:r>
              <a:rPr lang="en-US" dirty="0"/>
              <a:t>mobile, desktop)</a:t>
            </a:r>
            <a:endParaRPr lang="ru-RU" dirty="0"/>
          </a:p>
          <a:p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326523" y="5638655"/>
            <a:ext cx="9144000" cy="10198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 smtClean="0"/>
              <a:t>Ключевые особенности:</a:t>
            </a:r>
            <a:br>
              <a:rPr lang="ru-RU" sz="1800" dirty="0" smtClean="0"/>
            </a:br>
            <a:r>
              <a:rPr lang="ru-RU" sz="1800" dirty="0" smtClean="0"/>
              <a:t>- стратификация по платформам (</a:t>
            </a:r>
            <a:r>
              <a:rPr lang="en-US" sz="1800" dirty="0" smtClean="0"/>
              <a:t>mobile, desktop)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- данные за 05.03.2019 были исключены как не релевантные.</a:t>
            </a:r>
            <a:br>
              <a:rPr lang="ru-RU" sz="1800" dirty="0" smtClean="0"/>
            </a:br>
            <a:r>
              <a:rPr lang="ru-RU" sz="1800" dirty="0" smtClean="0"/>
              <a:t>- подробный отчет по этапам, методам, анализу и выводам изложен отдельным файлом </a:t>
            </a:r>
            <a:endParaRPr lang="ru-RU" sz="1800" dirty="0"/>
          </a:p>
          <a:p>
            <a:pPr algn="l"/>
            <a:endParaRPr lang="ru-RU" sz="18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776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779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Общая информация об </a:t>
            </a:r>
            <a:r>
              <a:rPr lang="ru-RU" sz="4000" b="1" dirty="0" smtClean="0">
                <a:hlinkClick r:id="rId2" action="ppaction://hlinkfile"/>
              </a:rPr>
              <a:t>эксперименте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52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Цель</a:t>
            </a:r>
            <a:r>
              <a:rPr lang="ru-RU" sz="1800" dirty="0" smtClean="0"/>
              <a:t>: </a:t>
            </a:r>
            <a:br>
              <a:rPr lang="ru-RU" sz="1800" dirty="0" smtClean="0"/>
            </a:br>
            <a:r>
              <a:rPr lang="ru-RU" sz="1800" dirty="0" smtClean="0"/>
              <a:t>сравниваем 2 сегмента пользователей: </a:t>
            </a:r>
            <a:br>
              <a:rPr lang="ru-RU" sz="1800" dirty="0" smtClean="0"/>
            </a:br>
            <a:r>
              <a:rPr lang="ru-RU" sz="1800" dirty="0" smtClean="0"/>
              <a:t>1) видят обычную ленту объявлений (органический элемент вверху, 4 рекламных внизу)</a:t>
            </a:r>
            <a:br>
              <a:rPr lang="ru-RU" sz="1800" dirty="0" smtClean="0"/>
            </a:br>
            <a:r>
              <a:rPr lang="ru-RU" sz="1800" dirty="0" smtClean="0"/>
              <a:t>2) видят обновленную ленту объявлений (4 рекламных элемента вверху, органический элемент внизу)</a:t>
            </a:r>
          </a:p>
          <a:p>
            <a:pPr marL="0" indent="0">
              <a:buNone/>
            </a:pPr>
            <a:r>
              <a:rPr lang="ru-RU" sz="1800" b="1" dirty="0" smtClean="0"/>
              <a:t>Описание </a:t>
            </a:r>
            <a:r>
              <a:rPr lang="ru-RU" sz="1800" b="1" dirty="0"/>
              <a:t>проекта:</a:t>
            </a:r>
          </a:p>
          <a:p>
            <a:pPr marL="0" indent="0">
              <a:buNone/>
            </a:pPr>
            <a:r>
              <a:rPr lang="ru-RU" sz="1800" dirty="0" smtClean="0"/>
              <a:t>Эксперимент:</a:t>
            </a:r>
            <a:br>
              <a:rPr lang="ru-RU" sz="1800" dirty="0" smtClean="0"/>
            </a:br>
            <a:r>
              <a:rPr lang="ru-RU" sz="1800" dirty="0" smtClean="0"/>
              <a:t>Вариант А – контрольный</a:t>
            </a:r>
            <a:br>
              <a:rPr lang="ru-RU" sz="1800" dirty="0" smtClean="0"/>
            </a:br>
            <a:r>
              <a:rPr lang="ru-RU" sz="1800" dirty="0" smtClean="0"/>
              <a:t>Вариант В – тестовый</a:t>
            </a:r>
          </a:p>
          <a:p>
            <a:pPr marL="0" indent="0">
              <a:buNone/>
            </a:pPr>
            <a:r>
              <a:rPr lang="ru-RU" sz="1800" dirty="0" smtClean="0"/>
              <a:t>Что рассчитать:</a:t>
            </a:r>
            <a:br>
              <a:rPr lang="ru-RU" sz="1800" dirty="0" smtClean="0"/>
            </a:br>
            <a:r>
              <a:rPr lang="ru-RU" sz="1800" dirty="0" smtClean="0"/>
              <a:t> - прибыль от перехода по рекламным элементам</a:t>
            </a:r>
            <a:br>
              <a:rPr lang="ru-RU" sz="1800" dirty="0" smtClean="0"/>
            </a:br>
            <a:r>
              <a:rPr lang="ru-RU" sz="1800" dirty="0" smtClean="0"/>
              <a:t> - конверсию перехода по рекламным элементам</a:t>
            </a:r>
            <a:br>
              <a:rPr lang="ru-RU" sz="1800" dirty="0" smtClean="0"/>
            </a:br>
            <a:r>
              <a:rPr lang="ru-RU" sz="1800" dirty="0" smtClean="0"/>
              <a:t> - конверсию перехода по органическим элементам</a:t>
            </a:r>
          </a:p>
          <a:p>
            <a:pPr marL="0" indent="0">
              <a:buNone/>
            </a:pPr>
            <a:r>
              <a:rPr lang="ru-RU" sz="1800" dirty="0" smtClean="0"/>
              <a:t>Даты эксперимента: с 01.03.2019 по 07.03.2019</a:t>
            </a:r>
          </a:p>
          <a:p>
            <a:pPr marL="0" indent="0">
              <a:buNone/>
            </a:pPr>
            <a:r>
              <a:rPr lang="ru-RU" sz="1800" dirty="0" smtClean="0"/>
              <a:t>Необходимо сравнить в группах следующие метрики: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RPM</a:t>
            </a:r>
            <a:r>
              <a:rPr lang="ru-RU" sz="1800" dirty="0" smtClean="0"/>
              <a:t>: доход на 1000 просмотров страниц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RPS</a:t>
            </a:r>
            <a:r>
              <a:rPr lang="ru-RU" sz="1800" dirty="0" smtClean="0"/>
              <a:t>: доход на 1000 сессий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Paid/Organic CTR</a:t>
            </a:r>
            <a:r>
              <a:rPr lang="ru-RU" sz="1800" dirty="0" smtClean="0"/>
              <a:t>: конверсия перехода по рекламным и органическим ссылкам</a:t>
            </a:r>
            <a:br>
              <a:rPr lang="ru-RU" sz="1800" dirty="0" smtClean="0"/>
            </a:br>
            <a:r>
              <a:rPr lang="ru-RU" sz="1800" dirty="0" smtClean="0"/>
              <a:t> - Количество просмотров за сессию</a:t>
            </a:r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5700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9355"/>
          </a:xfrm>
        </p:spPr>
        <p:txBody>
          <a:bodyPr>
            <a:noAutofit/>
          </a:bodyPr>
          <a:lstStyle/>
          <a:p>
            <a:r>
              <a:rPr lang="ru-RU" sz="4000" b="1" dirty="0" smtClean="0"/>
              <a:t>Итоговый результат теста по платформам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287087" y="5469774"/>
            <a:ext cx="4082935" cy="12043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smtClean="0"/>
              <a:t>Desktop (</a:t>
            </a:r>
            <a:r>
              <a:rPr lang="ru-RU" sz="1600" b="1" dirty="0" smtClean="0">
                <a:solidFill>
                  <a:srgbClr val="FF9999"/>
                </a:solidFill>
              </a:rPr>
              <a:t>розовые столбцы</a:t>
            </a:r>
            <a:r>
              <a:rPr lang="ru-RU" sz="1600" b="1" dirty="0" smtClean="0"/>
              <a:t>)</a:t>
            </a:r>
            <a:br>
              <a:rPr lang="ru-RU" sz="1600" b="1" dirty="0" smtClean="0"/>
            </a:br>
            <a:r>
              <a:rPr lang="ru-RU" sz="1600" b="1" dirty="0" smtClean="0">
                <a:solidFill>
                  <a:schemeClr val="accent6"/>
                </a:solidFill>
              </a:rPr>
              <a:t>Рост:</a:t>
            </a:r>
            <a:r>
              <a:rPr lang="ru-RU" sz="1600" dirty="0" smtClean="0"/>
              <a:t> </a:t>
            </a:r>
            <a:r>
              <a:rPr lang="en-US" sz="1600" b="1" dirty="0" smtClean="0"/>
              <a:t>RPM</a:t>
            </a:r>
            <a:r>
              <a:rPr lang="ru-RU" sz="1600" dirty="0"/>
              <a:t>,</a:t>
            </a:r>
            <a:r>
              <a:rPr lang="ru-RU" sz="1600" dirty="0" smtClean="0"/>
              <a:t> </a:t>
            </a:r>
            <a:r>
              <a:rPr lang="en-US" sz="1600" b="1" dirty="0" smtClean="0"/>
              <a:t>CTR</a:t>
            </a:r>
            <a:r>
              <a:rPr lang="ru-RU" sz="1600" dirty="0" smtClean="0"/>
              <a:t>-реклама.</a:t>
            </a:r>
            <a:br>
              <a:rPr lang="ru-RU" sz="1600" dirty="0" smtClean="0"/>
            </a:br>
            <a:r>
              <a:rPr lang="ru-RU" sz="1600" b="1" dirty="0" smtClean="0">
                <a:solidFill>
                  <a:srgbClr val="FF0000"/>
                </a:solidFill>
              </a:rPr>
              <a:t>Падение:</a:t>
            </a:r>
            <a:r>
              <a:rPr lang="ru-RU" sz="1600" dirty="0" smtClean="0"/>
              <a:t> </a:t>
            </a:r>
            <a:r>
              <a:rPr lang="en-US" sz="1600" b="1" dirty="0" smtClean="0"/>
              <a:t>Revenue</a:t>
            </a:r>
            <a:r>
              <a:rPr lang="ru-RU" sz="1600" b="1" dirty="0" smtClean="0"/>
              <a:t>,</a:t>
            </a:r>
            <a:r>
              <a:rPr lang="en-US" sz="1600" b="1" dirty="0" smtClean="0"/>
              <a:t> RPS, CTR</a:t>
            </a:r>
            <a:r>
              <a:rPr lang="ru-RU" sz="1600" b="1" dirty="0" smtClean="0"/>
              <a:t>-</a:t>
            </a:r>
            <a:r>
              <a:rPr lang="ru-RU" sz="1600" dirty="0" smtClean="0"/>
              <a:t>органика.</a:t>
            </a:r>
            <a:br>
              <a:rPr lang="ru-RU" sz="1600" dirty="0" smtClean="0"/>
            </a:br>
            <a:endParaRPr lang="ru-RU" sz="1600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3042"/>
            <a:ext cx="8372302" cy="3998422"/>
          </a:xfrm>
          <a:prstGeom prst="rect">
            <a:avLst/>
          </a:prstGeom>
        </p:spPr>
      </p:pic>
      <p:sp>
        <p:nvSpPr>
          <p:cNvPr id="9" name="Объект 4"/>
          <p:cNvSpPr txBox="1">
            <a:spLocks/>
          </p:cNvSpPr>
          <p:nvPr/>
        </p:nvSpPr>
        <p:spPr>
          <a:xfrm>
            <a:off x="9252065" y="2574956"/>
            <a:ext cx="2060171" cy="18660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Каждый столбец отображает как изменилась метрика в группе В по отношению к группе А</a:t>
            </a:r>
            <a:endParaRPr lang="ru-RU" sz="1800" dirty="0"/>
          </a:p>
        </p:txBody>
      </p:sp>
      <p:sp>
        <p:nvSpPr>
          <p:cNvPr id="10" name="Объект 4"/>
          <p:cNvSpPr txBox="1">
            <a:spLocks/>
          </p:cNvSpPr>
          <p:nvPr/>
        </p:nvSpPr>
        <p:spPr>
          <a:xfrm>
            <a:off x="5594465" y="5461464"/>
            <a:ext cx="3699164" cy="1204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smtClean="0"/>
              <a:t>Mobile</a:t>
            </a:r>
            <a:r>
              <a:rPr lang="ru-RU" sz="1600" b="1" dirty="0" smtClean="0"/>
              <a:t> (</a:t>
            </a:r>
            <a:r>
              <a:rPr lang="ru-RU" sz="1600" b="1" dirty="0" smtClean="0">
                <a:solidFill>
                  <a:srgbClr val="00CCFF"/>
                </a:solidFill>
              </a:rPr>
              <a:t>голубые столбцы</a:t>
            </a:r>
            <a:r>
              <a:rPr lang="ru-RU" sz="1600" b="1" dirty="0" smtClean="0"/>
              <a:t>)</a:t>
            </a:r>
            <a:br>
              <a:rPr lang="ru-RU" sz="1600" b="1" dirty="0" smtClean="0"/>
            </a:br>
            <a:r>
              <a:rPr lang="ru-RU" sz="1600" b="1" dirty="0" smtClean="0">
                <a:solidFill>
                  <a:schemeClr val="accent6"/>
                </a:solidFill>
              </a:rPr>
              <a:t>Рост:</a:t>
            </a:r>
            <a:r>
              <a:rPr lang="ru-RU" sz="1600" dirty="0" smtClean="0"/>
              <a:t> </a:t>
            </a:r>
            <a:r>
              <a:rPr lang="en-US" sz="1600" b="1" dirty="0" smtClean="0"/>
              <a:t>Revenue, RPM</a:t>
            </a:r>
            <a:r>
              <a:rPr lang="ru-RU" sz="1600" dirty="0" smtClean="0"/>
              <a:t>,</a:t>
            </a:r>
            <a:r>
              <a:rPr lang="en-US" sz="1600" dirty="0" smtClean="0"/>
              <a:t> </a:t>
            </a:r>
            <a:r>
              <a:rPr lang="en-US" sz="1600" b="1" dirty="0" smtClean="0"/>
              <a:t>RPS,</a:t>
            </a:r>
            <a:r>
              <a:rPr lang="ru-RU" sz="1600" dirty="0" smtClean="0"/>
              <a:t> </a:t>
            </a:r>
            <a:r>
              <a:rPr lang="en-US" sz="1600" b="1" dirty="0" smtClean="0"/>
              <a:t>CTR</a:t>
            </a:r>
            <a:r>
              <a:rPr lang="ru-RU" sz="1600" dirty="0" smtClean="0"/>
              <a:t>-реклама.</a:t>
            </a:r>
            <a:br>
              <a:rPr lang="ru-RU" sz="1600" dirty="0" smtClean="0"/>
            </a:br>
            <a:r>
              <a:rPr lang="ru-RU" sz="1600" b="1" dirty="0" smtClean="0">
                <a:solidFill>
                  <a:srgbClr val="FF0000"/>
                </a:solidFill>
              </a:rPr>
              <a:t>Падение:</a:t>
            </a:r>
            <a:r>
              <a:rPr lang="en-US" sz="1600" b="1" dirty="0" smtClean="0"/>
              <a:t> CTR</a:t>
            </a:r>
            <a:r>
              <a:rPr lang="ru-RU" sz="1600" b="1" dirty="0" smtClean="0"/>
              <a:t>-</a:t>
            </a:r>
            <a:r>
              <a:rPr lang="ru-RU" sz="1600" dirty="0" smtClean="0"/>
              <a:t>органика.</a:t>
            </a:r>
            <a:br>
              <a:rPr lang="ru-RU" sz="1600" dirty="0" smtClean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7101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1361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Обоснование полученных результатов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89217" y="5461462"/>
            <a:ext cx="9651074" cy="130414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sz="1700" b="1" dirty="0" smtClean="0"/>
              <a:t>Важно</a:t>
            </a:r>
            <a:r>
              <a:rPr lang="ru-RU" sz="1700" dirty="0" smtClean="0"/>
              <a:t>: количество сессий практически не изменилось (пользователи возвращаются), но снизилось общее количество загруженных страниц и резко упало количество страниц, где пользователь видел нашу ленту.</a:t>
            </a:r>
          </a:p>
          <a:p>
            <a:pPr marL="0" indent="0">
              <a:buNone/>
            </a:pPr>
            <a:r>
              <a:rPr lang="ru-RU" sz="1700" b="1" dirty="0" smtClean="0"/>
              <a:t>Вывод</a:t>
            </a:r>
            <a:r>
              <a:rPr lang="ru-RU" sz="1700" dirty="0" smtClean="0"/>
              <a:t>: </a:t>
            </a:r>
            <a:br>
              <a:rPr lang="ru-RU" sz="1700" dirty="0" smtClean="0"/>
            </a:br>
            <a:r>
              <a:rPr lang="ru-RU" sz="1700" dirty="0" smtClean="0"/>
              <a:t> - пользователи стали чаще кликать на рекламный контент и не возвращаться обратно на сайт. Это подтверждается снижением глубины просмотра.</a:t>
            </a:r>
            <a:r>
              <a:rPr lang="ru-RU" sz="1700" dirty="0"/>
              <a:t> </a:t>
            </a:r>
            <a:r>
              <a:rPr lang="ru-RU" sz="1700" dirty="0" smtClean="0"/>
              <a:t/>
            </a:r>
            <a:br>
              <a:rPr lang="ru-RU" sz="1700" dirty="0" smtClean="0"/>
            </a:br>
            <a:r>
              <a:rPr lang="ru-RU" sz="1700" dirty="0"/>
              <a:t> </a:t>
            </a:r>
            <a:r>
              <a:rPr lang="ru-RU" sz="1700" dirty="0" smtClean="0"/>
              <a:t>- снижение </a:t>
            </a:r>
            <a:r>
              <a:rPr lang="en-US" sz="1700" dirty="0" smtClean="0"/>
              <a:t>CPC</a:t>
            </a:r>
            <a:r>
              <a:rPr lang="ru-RU" sz="1700" dirty="0" smtClean="0"/>
              <a:t> на </a:t>
            </a:r>
            <a:r>
              <a:rPr lang="en-US" sz="1700" dirty="0" smtClean="0"/>
              <a:t>Desktop</a:t>
            </a:r>
            <a:r>
              <a:rPr lang="ru-RU" sz="1700" dirty="0" smtClean="0"/>
              <a:t> усугубило результат и привело к падению прибыли </a:t>
            </a: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9293629" y="2872453"/>
            <a:ext cx="2177935" cy="1242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Относительный прирост/падение показателей группы В к группе А по каждой платформе</a:t>
            </a:r>
            <a:endParaRPr lang="ru-RU" sz="1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6023"/>
            <a:ext cx="8372301" cy="39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6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0396" y="365125"/>
            <a:ext cx="10533404" cy="1161361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Анализ эффективности ленты в издательствах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06089" y="5247118"/>
            <a:ext cx="9734202" cy="15184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700" b="1" dirty="0" smtClean="0"/>
              <a:t>Независимо от платформы:</a:t>
            </a:r>
            <a:br>
              <a:rPr lang="ru-RU" sz="1700" b="1" dirty="0" smtClean="0"/>
            </a:br>
            <a:r>
              <a:rPr lang="ru-RU" sz="1700" b="1" dirty="0" smtClean="0"/>
              <a:t>- </a:t>
            </a:r>
            <a:r>
              <a:rPr lang="ru-RU" sz="1700" dirty="0" smtClean="0"/>
              <a:t>издательства, имеющие наименьший трафик приносят наибольший доход,</a:t>
            </a:r>
            <a:br>
              <a:rPr lang="ru-RU" sz="1700" dirty="0" smtClean="0"/>
            </a:br>
            <a:r>
              <a:rPr lang="ru-RU" sz="1700" dirty="0" smtClean="0"/>
              <a:t>- издательства с наибольшим трафиком имеют наименьший доход.</a:t>
            </a:r>
          </a:p>
          <a:p>
            <a:pPr marL="0" indent="0">
              <a:buNone/>
            </a:pPr>
            <a:r>
              <a:rPr lang="ru-RU" sz="1700" dirty="0" smtClean="0"/>
              <a:t> </a:t>
            </a:r>
            <a:r>
              <a:rPr lang="ru-RU" sz="1700" b="1" dirty="0" smtClean="0"/>
              <a:t> </a:t>
            </a:r>
            <a:r>
              <a:rPr lang="ru-RU" sz="1700" dirty="0" smtClean="0"/>
              <a:t>Необходимо изучить данную особенность, выявить какие факторы влияют на данные показатели, попробовать применить их к другим издательствами, либо учесть при сотрудничестве с новыми издательствами</a:t>
            </a: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9285084" y="3004470"/>
            <a:ext cx="2177935" cy="12425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Доля каждого издательства от общего объема метрики</a:t>
            </a:r>
            <a:endParaRPr lang="ru-RU" sz="1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13012"/>
              </p:ext>
            </p:extLst>
          </p:nvPr>
        </p:nvGraphicFramePr>
        <p:xfrm>
          <a:off x="940038" y="1707412"/>
          <a:ext cx="8133504" cy="129705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76236">
                  <a:extLst>
                    <a:ext uri="{9D8B030D-6E8A-4147-A177-3AD203B41FA5}">
                      <a16:colId xmlns:a16="http://schemas.microsoft.com/office/drawing/2014/main" val="2648907033"/>
                    </a:ext>
                  </a:extLst>
                </a:gridCol>
                <a:gridCol w="1412064">
                  <a:extLst>
                    <a:ext uri="{9D8B030D-6E8A-4147-A177-3AD203B41FA5}">
                      <a16:colId xmlns:a16="http://schemas.microsoft.com/office/drawing/2014/main" val="3933250765"/>
                    </a:ext>
                  </a:extLst>
                </a:gridCol>
                <a:gridCol w="1731278">
                  <a:extLst>
                    <a:ext uri="{9D8B030D-6E8A-4147-A177-3AD203B41FA5}">
                      <a16:colId xmlns:a16="http://schemas.microsoft.com/office/drawing/2014/main" val="2992452003"/>
                    </a:ext>
                  </a:extLst>
                </a:gridCol>
                <a:gridCol w="1388450">
                  <a:extLst>
                    <a:ext uri="{9D8B030D-6E8A-4147-A177-3AD203B41FA5}">
                      <a16:colId xmlns:a16="http://schemas.microsoft.com/office/drawing/2014/main" val="3965870187"/>
                    </a:ext>
                  </a:extLst>
                </a:gridCol>
                <a:gridCol w="1688425">
                  <a:extLst>
                    <a:ext uri="{9D8B030D-6E8A-4147-A177-3AD203B41FA5}">
                      <a16:colId xmlns:a16="http://schemas.microsoft.com/office/drawing/2014/main" val="2033533074"/>
                    </a:ext>
                  </a:extLst>
                </a:gridCol>
                <a:gridCol w="1037051">
                  <a:extLst>
                    <a:ext uri="{9D8B030D-6E8A-4147-A177-3AD203B41FA5}">
                      <a16:colId xmlns:a16="http://schemas.microsoft.com/office/drawing/2014/main" val="4184256437"/>
                    </a:ext>
                  </a:extLst>
                </a:gridCol>
              </a:tblGrid>
              <a:tr h="33503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 smtClean="0">
                          <a:effectLst/>
                        </a:rPr>
                        <a:t>Издательство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pageviews</a:t>
                      </a:r>
                      <a:r>
                        <a:rPr lang="en-US" sz="1100" u="none" strike="noStrike" dirty="0" smtClean="0">
                          <a:effectLst/>
                        </a:rPr>
                        <a:t>,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visible_pageviews</a:t>
                      </a:r>
                      <a:r>
                        <a:rPr lang="en-US" sz="1100" u="none" strike="noStrike" dirty="0" smtClean="0">
                          <a:effectLst/>
                        </a:rPr>
                        <a:t>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Revenue</a:t>
                      </a:r>
                      <a:r>
                        <a:rPr lang="ru-RU" sz="1100" u="none" strike="noStrike" baseline="0" dirty="0" smtClean="0">
                          <a:effectLst/>
                        </a:rPr>
                        <a:t> </a:t>
                      </a:r>
                      <a:r>
                        <a:rPr lang="ru-RU" sz="1100" u="none" strike="noStrike" dirty="0" smtClean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sponsord_clicks</a:t>
                      </a:r>
                      <a:r>
                        <a:rPr lang="en-US" sz="1100" u="none" strike="noStrike" dirty="0" smtClean="0">
                          <a:effectLst/>
                        </a:rPr>
                        <a:t>,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CPC,A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5280426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101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18,4%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16,7%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21,3%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16,8%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0,11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8263604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106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17,0%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33,5%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13,0%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38,9%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0,03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1539292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111</a:t>
                      </a:r>
                      <a:endParaRPr lang="ru-RU" sz="12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14,1%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16,7%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49,0%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20,6%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0,21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8880754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123</a:t>
                      </a:r>
                      <a:endParaRPr lang="ru-RU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23,5%</a:t>
                      </a:r>
                      <a:endParaRPr lang="ru-RU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11,0%</a:t>
                      </a:r>
                      <a:endParaRPr lang="ru-RU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7,1%</a:t>
                      </a:r>
                      <a:endParaRPr lang="ru-RU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solidFill>
                            <a:srgbClr val="FF0000"/>
                          </a:solidFill>
                          <a:effectLst/>
                        </a:rPr>
                        <a:t>14,5%</a:t>
                      </a:r>
                      <a:endParaRPr lang="ru-RU" sz="11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0,04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7701842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373</a:t>
                      </a:r>
                      <a:endParaRPr lang="ru-RU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27,1%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22,2%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9,6%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9,2%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0,09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4557168"/>
                  </a:ext>
                </a:extLst>
              </a:tr>
            </a:tbl>
          </a:graphicData>
        </a:graphic>
      </p:graphicFrame>
      <p:sp>
        <p:nvSpPr>
          <p:cNvPr id="7" name="Объект 4"/>
          <p:cNvSpPr txBox="1">
            <a:spLocks/>
          </p:cNvSpPr>
          <p:nvPr/>
        </p:nvSpPr>
        <p:spPr>
          <a:xfrm>
            <a:off x="906089" y="1333154"/>
            <a:ext cx="2177935" cy="36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Desktop</a:t>
            </a:r>
            <a:endParaRPr lang="ru-RU" sz="180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459104"/>
              </p:ext>
            </p:extLst>
          </p:nvPr>
        </p:nvGraphicFramePr>
        <p:xfrm>
          <a:off x="940038" y="3852406"/>
          <a:ext cx="8133504" cy="110465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76236">
                  <a:extLst>
                    <a:ext uri="{9D8B030D-6E8A-4147-A177-3AD203B41FA5}">
                      <a16:colId xmlns:a16="http://schemas.microsoft.com/office/drawing/2014/main" val="2648907033"/>
                    </a:ext>
                  </a:extLst>
                </a:gridCol>
                <a:gridCol w="1412064">
                  <a:extLst>
                    <a:ext uri="{9D8B030D-6E8A-4147-A177-3AD203B41FA5}">
                      <a16:colId xmlns:a16="http://schemas.microsoft.com/office/drawing/2014/main" val="3933250765"/>
                    </a:ext>
                  </a:extLst>
                </a:gridCol>
                <a:gridCol w="1731278">
                  <a:extLst>
                    <a:ext uri="{9D8B030D-6E8A-4147-A177-3AD203B41FA5}">
                      <a16:colId xmlns:a16="http://schemas.microsoft.com/office/drawing/2014/main" val="2992452003"/>
                    </a:ext>
                  </a:extLst>
                </a:gridCol>
                <a:gridCol w="1388450">
                  <a:extLst>
                    <a:ext uri="{9D8B030D-6E8A-4147-A177-3AD203B41FA5}">
                      <a16:colId xmlns:a16="http://schemas.microsoft.com/office/drawing/2014/main" val="3965870187"/>
                    </a:ext>
                  </a:extLst>
                </a:gridCol>
                <a:gridCol w="1688425">
                  <a:extLst>
                    <a:ext uri="{9D8B030D-6E8A-4147-A177-3AD203B41FA5}">
                      <a16:colId xmlns:a16="http://schemas.microsoft.com/office/drawing/2014/main" val="2033533074"/>
                    </a:ext>
                  </a:extLst>
                </a:gridCol>
                <a:gridCol w="1037051">
                  <a:extLst>
                    <a:ext uri="{9D8B030D-6E8A-4147-A177-3AD203B41FA5}">
                      <a16:colId xmlns:a16="http://schemas.microsoft.com/office/drawing/2014/main" val="4184256437"/>
                    </a:ext>
                  </a:extLst>
                </a:gridCol>
              </a:tblGrid>
              <a:tr h="33503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 smtClean="0">
                          <a:effectLst/>
                        </a:rPr>
                        <a:t>Издательство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pageviews</a:t>
                      </a:r>
                      <a:r>
                        <a:rPr lang="en-US" sz="1100" u="none" strike="noStrike" dirty="0" smtClean="0">
                          <a:effectLst/>
                        </a:rPr>
                        <a:t>,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visible_pageviews</a:t>
                      </a:r>
                      <a:r>
                        <a:rPr lang="en-US" sz="1100" u="none" strike="noStrike" dirty="0" smtClean="0">
                          <a:effectLst/>
                        </a:rPr>
                        <a:t>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Revenue</a:t>
                      </a:r>
                      <a:r>
                        <a:rPr lang="ru-RU" sz="1100" u="none" strike="noStrike" baseline="0" dirty="0" smtClean="0">
                          <a:effectLst/>
                        </a:rPr>
                        <a:t> </a:t>
                      </a:r>
                      <a:r>
                        <a:rPr lang="ru-RU" sz="1100" u="none" strike="noStrike" dirty="0" smtClean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sponsord_clicks</a:t>
                      </a:r>
                      <a:r>
                        <a:rPr lang="en-US" sz="1100" u="none" strike="noStrike" dirty="0" smtClean="0">
                          <a:effectLst/>
                        </a:rPr>
                        <a:t>, </a:t>
                      </a:r>
                      <a:r>
                        <a:rPr lang="en-US" sz="1100" u="none" strike="noStrike" dirty="0">
                          <a:effectLst/>
                        </a:rPr>
                        <a:t>% </a:t>
                      </a:r>
                      <a:r>
                        <a:rPr lang="ru-RU" sz="1100" u="none" strike="noStrike" dirty="0">
                          <a:effectLst/>
                        </a:rPr>
                        <a:t>от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тотал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CPC,A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5280426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22,5%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41,4%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22,6%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0,17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8263604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36,1%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4,4%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12,9%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1539292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28,2%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20,6%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51,6%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8880754"/>
                  </a:ext>
                </a:extLst>
              </a:tr>
              <a:tr h="17724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13,3%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33,5%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12,9%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0,24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7701842"/>
                  </a:ext>
                </a:extLst>
              </a:tr>
            </a:tbl>
          </a:graphicData>
        </a:graphic>
      </p:graphicFrame>
      <p:sp>
        <p:nvSpPr>
          <p:cNvPr id="10" name="Объект 4"/>
          <p:cNvSpPr txBox="1">
            <a:spLocks/>
          </p:cNvSpPr>
          <p:nvPr/>
        </p:nvSpPr>
        <p:spPr>
          <a:xfrm>
            <a:off x="906088" y="3487140"/>
            <a:ext cx="2177935" cy="36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Mobile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267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1361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Анализ влияния теста на издательства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06089" y="5155318"/>
            <a:ext cx="9825642" cy="15461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И</a:t>
            </a:r>
            <a:r>
              <a:rPr lang="ru-RU" sz="1600" dirty="0" smtClean="0"/>
              <a:t>зменение формата ленты вызвало:</a:t>
            </a:r>
            <a:br>
              <a:rPr lang="ru-RU" sz="1600" dirty="0" smtClean="0"/>
            </a:br>
            <a:r>
              <a:rPr lang="ru-RU" sz="1600" dirty="0" smtClean="0"/>
              <a:t>- </a:t>
            </a:r>
            <a:r>
              <a:rPr lang="ru-RU" sz="1600" b="1" dirty="0" smtClean="0"/>
              <a:t>не зависимо от платформы, снижение количества просматриваемых страниц</a:t>
            </a:r>
            <a:r>
              <a:rPr lang="ru-RU" sz="1600" dirty="0" smtClean="0"/>
              <a:t>, что повышает риски снижения лояльности пользователей к нашей платформе и ухудшению партнерских отношений с издательствами.</a:t>
            </a:r>
            <a:br>
              <a:rPr lang="ru-RU" sz="1600" dirty="0" smtClean="0"/>
            </a:br>
            <a:r>
              <a:rPr lang="ru-RU" sz="1600" dirty="0" smtClean="0"/>
              <a:t>- </a:t>
            </a:r>
            <a:r>
              <a:rPr lang="ru-RU" sz="1600" b="1" dirty="0" smtClean="0"/>
              <a:t>на </a:t>
            </a:r>
            <a:r>
              <a:rPr lang="en-US" sz="1600" b="1" dirty="0" smtClean="0"/>
              <a:t>Mobile </a:t>
            </a:r>
            <a:r>
              <a:rPr lang="ru-RU" sz="1600" b="1" dirty="0" smtClean="0"/>
              <a:t>единый эффект в виде роста</a:t>
            </a:r>
            <a:r>
              <a:rPr lang="ru-RU" sz="1600" dirty="0" smtClean="0"/>
              <a:t> перехода по рекламным ссылкам и роста выручки по всем издательством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- </a:t>
            </a:r>
            <a:r>
              <a:rPr lang="ru-RU" sz="1600" b="1" dirty="0" smtClean="0"/>
              <a:t>на </a:t>
            </a:r>
            <a:r>
              <a:rPr lang="en-US" sz="1600" b="1" dirty="0" smtClean="0"/>
              <a:t>Desktop</a:t>
            </a:r>
            <a:r>
              <a:rPr lang="ru-RU" sz="1600" b="1" dirty="0" smtClean="0"/>
              <a:t> разнонаправленный эффект </a:t>
            </a:r>
            <a:r>
              <a:rPr lang="ru-RU" sz="1600" dirty="0" smtClean="0"/>
              <a:t>перехода по рекламам, но в большинстве с уменьшением выручки</a:t>
            </a: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906089" y="1314728"/>
            <a:ext cx="2177935" cy="36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Desktop</a:t>
            </a:r>
            <a:endParaRPr lang="ru-RU" sz="18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81766"/>
              </p:ext>
            </p:extLst>
          </p:nvPr>
        </p:nvGraphicFramePr>
        <p:xfrm>
          <a:off x="982766" y="1709158"/>
          <a:ext cx="8129370" cy="129716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44793">
                  <a:extLst>
                    <a:ext uri="{9D8B030D-6E8A-4147-A177-3AD203B41FA5}">
                      <a16:colId xmlns:a16="http://schemas.microsoft.com/office/drawing/2014/main" val="3073684535"/>
                    </a:ext>
                  </a:extLst>
                </a:gridCol>
                <a:gridCol w="911608">
                  <a:extLst>
                    <a:ext uri="{9D8B030D-6E8A-4147-A177-3AD203B41FA5}">
                      <a16:colId xmlns:a16="http://schemas.microsoft.com/office/drawing/2014/main" val="2367231213"/>
                    </a:ext>
                  </a:extLst>
                </a:gridCol>
                <a:gridCol w="1151941">
                  <a:extLst>
                    <a:ext uri="{9D8B030D-6E8A-4147-A177-3AD203B41FA5}">
                      <a16:colId xmlns:a16="http://schemas.microsoft.com/office/drawing/2014/main" val="157669674"/>
                    </a:ext>
                  </a:extLst>
                </a:gridCol>
                <a:gridCol w="1069068">
                  <a:extLst>
                    <a:ext uri="{9D8B030D-6E8A-4147-A177-3AD203B41FA5}">
                      <a16:colId xmlns:a16="http://schemas.microsoft.com/office/drawing/2014/main" val="984069144"/>
                    </a:ext>
                  </a:extLst>
                </a:gridCol>
                <a:gridCol w="754148">
                  <a:extLst>
                    <a:ext uri="{9D8B030D-6E8A-4147-A177-3AD203B41FA5}">
                      <a16:colId xmlns:a16="http://schemas.microsoft.com/office/drawing/2014/main" val="1180036178"/>
                    </a:ext>
                  </a:extLst>
                </a:gridCol>
                <a:gridCol w="986195">
                  <a:extLst>
                    <a:ext uri="{9D8B030D-6E8A-4147-A177-3AD203B41FA5}">
                      <a16:colId xmlns:a16="http://schemas.microsoft.com/office/drawing/2014/main" val="1029428207"/>
                    </a:ext>
                  </a:extLst>
                </a:gridCol>
                <a:gridCol w="700325">
                  <a:extLst>
                    <a:ext uri="{9D8B030D-6E8A-4147-A177-3AD203B41FA5}">
                      <a16:colId xmlns:a16="http://schemas.microsoft.com/office/drawing/2014/main" val="1309030349"/>
                    </a:ext>
                  </a:extLst>
                </a:gridCol>
                <a:gridCol w="855646">
                  <a:extLst>
                    <a:ext uri="{9D8B030D-6E8A-4147-A177-3AD203B41FA5}">
                      <a16:colId xmlns:a16="http://schemas.microsoft.com/office/drawing/2014/main" val="3651040037"/>
                    </a:ext>
                  </a:extLst>
                </a:gridCol>
                <a:gridCol w="855646">
                  <a:extLst>
                    <a:ext uri="{9D8B030D-6E8A-4147-A177-3AD203B41FA5}">
                      <a16:colId xmlns:a16="http://schemas.microsoft.com/office/drawing/2014/main" val="3677480611"/>
                    </a:ext>
                  </a:extLst>
                </a:gridCol>
              </a:tblGrid>
              <a:tr h="33514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 smtClean="0">
                          <a:effectLst/>
                        </a:rPr>
                        <a:t>Издательство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Pageviews</a:t>
                      </a:r>
                      <a:r>
                        <a:rPr lang="ru-RU" sz="1100" u="none" strike="noStrike" dirty="0" smtClean="0">
                          <a:effectLst/>
                        </a:rPr>
                        <a:t>,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шт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visible_pageviews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sponsord_clicks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Revenue</a:t>
                      </a:r>
                      <a:r>
                        <a:rPr lang="ru-RU" sz="1100" u="none" strike="noStrike" dirty="0" smtClean="0">
                          <a:effectLst/>
                        </a:rPr>
                        <a:t>,</a:t>
                      </a:r>
                      <a:r>
                        <a:rPr lang="en-US" sz="1100" u="none" strike="noStrike" dirty="0" smtClean="0">
                          <a:effectLst/>
                        </a:rPr>
                        <a:t>$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organic_clicks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RPM, $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CTR_paid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CTR_organic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6196811"/>
                  </a:ext>
                </a:extLst>
              </a:tr>
              <a:tr h="1914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101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-5018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-3834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-198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-9,1724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-2512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0,000429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0,03%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-5,60%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5683085"/>
                  </a:ext>
                </a:extLst>
              </a:tr>
              <a:tr h="1914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106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-9498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-8590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11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-6,5255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-8644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0,000145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>
                          <a:effectLst/>
                        </a:rPr>
                        <a:t>0,8%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-10,4%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3820929"/>
                  </a:ext>
                </a:extLst>
              </a:tr>
              <a:tr h="1914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111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-3352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-3822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-13,5589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-3318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0,001213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0,5%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-8,4%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81051"/>
                  </a:ext>
                </a:extLst>
              </a:tr>
              <a:tr h="1914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123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-2642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-1554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156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4,4852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-2197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0,000404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1,2%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-8,4%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3856114"/>
                  </a:ext>
                </a:extLst>
              </a:tr>
              <a:tr h="19147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effectLst/>
                        </a:rPr>
                        <a:t>373</a:t>
                      </a:r>
                      <a:endParaRPr lang="ru-RU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-6834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-14137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00B050"/>
                          </a:solidFill>
                          <a:effectLst/>
                        </a:rPr>
                        <a:t>41</a:t>
                      </a:r>
                      <a:endParaRPr lang="ru-RU" sz="1100" b="1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-2,4767</a:t>
                      </a:r>
                      <a:endParaRPr lang="ru-RU" sz="11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-6691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0,000768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u="none" strike="noStrike" dirty="0">
                          <a:effectLst/>
                        </a:rPr>
                        <a:t>1,0%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-9,7%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860313"/>
                  </a:ext>
                </a:extLst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111494"/>
              </p:ext>
            </p:extLst>
          </p:nvPr>
        </p:nvGraphicFramePr>
        <p:xfrm>
          <a:off x="940727" y="3836960"/>
          <a:ext cx="8171409" cy="1106383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864523">
                  <a:extLst>
                    <a:ext uri="{9D8B030D-6E8A-4147-A177-3AD203B41FA5}">
                      <a16:colId xmlns:a16="http://schemas.microsoft.com/office/drawing/2014/main" val="307368453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367231213"/>
                    </a:ext>
                  </a:extLst>
                </a:gridCol>
                <a:gridCol w="1155469">
                  <a:extLst>
                    <a:ext uri="{9D8B030D-6E8A-4147-A177-3AD203B41FA5}">
                      <a16:colId xmlns:a16="http://schemas.microsoft.com/office/drawing/2014/main" val="157669674"/>
                    </a:ext>
                  </a:extLst>
                </a:gridCol>
                <a:gridCol w="1072342">
                  <a:extLst>
                    <a:ext uri="{9D8B030D-6E8A-4147-A177-3AD203B41FA5}">
                      <a16:colId xmlns:a16="http://schemas.microsoft.com/office/drawing/2014/main" val="984069144"/>
                    </a:ext>
                  </a:extLst>
                </a:gridCol>
                <a:gridCol w="756458">
                  <a:extLst>
                    <a:ext uri="{9D8B030D-6E8A-4147-A177-3AD203B41FA5}">
                      <a16:colId xmlns:a16="http://schemas.microsoft.com/office/drawing/2014/main" val="1180036178"/>
                    </a:ext>
                  </a:extLst>
                </a:gridCol>
                <a:gridCol w="989215">
                  <a:extLst>
                    <a:ext uri="{9D8B030D-6E8A-4147-A177-3AD203B41FA5}">
                      <a16:colId xmlns:a16="http://schemas.microsoft.com/office/drawing/2014/main" val="1029428207"/>
                    </a:ext>
                  </a:extLst>
                </a:gridCol>
                <a:gridCol w="702470">
                  <a:extLst>
                    <a:ext uri="{9D8B030D-6E8A-4147-A177-3AD203B41FA5}">
                      <a16:colId xmlns:a16="http://schemas.microsoft.com/office/drawing/2014/main" val="1309030349"/>
                    </a:ext>
                  </a:extLst>
                </a:gridCol>
                <a:gridCol w="858266">
                  <a:extLst>
                    <a:ext uri="{9D8B030D-6E8A-4147-A177-3AD203B41FA5}">
                      <a16:colId xmlns:a16="http://schemas.microsoft.com/office/drawing/2014/main" val="3651040037"/>
                    </a:ext>
                  </a:extLst>
                </a:gridCol>
                <a:gridCol w="858266">
                  <a:extLst>
                    <a:ext uri="{9D8B030D-6E8A-4147-A177-3AD203B41FA5}">
                      <a16:colId xmlns:a16="http://schemas.microsoft.com/office/drawing/2014/main" val="3677480611"/>
                    </a:ext>
                  </a:extLst>
                </a:gridCol>
              </a:tblGrid>
              <a:tr h="336763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 smtClean="0">
                          <a:effectLst/>
                        </a:rPr>
                        <a:t>Издательство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 smtClean="0">
                          <a:effectLst/>
                        </a:rPr>
                        <a:t>Pageviews</a:t>
                      </a:r>
                      <a:r>
                        <a:rPr lang="ru-RU" sz="1100" u="none" strike="noStrike" dirty="0" smtClean="0">
                          <a:effectLst/>
                        </a:rPr>
                        <a:t>, </a:t>
                      </a:r>
                      <a:r>
                        <a:rPr lang="ru-RU" sz="1100" u="none" strike="noStrike" dirty="0" err="1" smtClean="0">
                          <a:effectLst/>
                        </a:rPr>
                        <a:t>шт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visible_pageviews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sponsord_clicks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Revenue</a:t>
                      </a:r>
                      <a:r>
                        <a:rPr lang="ru-RU" sz="1100" u="none" strike="noStrike" dirty="0" smtClean="0">
                          <a:effectLst/>
                        </a:rPr>
                        <a:t>,</a:t>
                      </a:r>
                      <a:r>
                        <a:rPr lang="en-US" sz="1100" u="none" strike="noStrike" dirty="0" smtClean="0">
                          <a:effectLst/>
                        </a:rPr>
                        <a:t>$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organic_clicks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</a:rPr>
                        <a:t>RPM, $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CTR_paid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CTR_organic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6196811"/>
                  </a:ext>
                </a:extLst>
              </a:tr>
              <a:tr h="1879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-6921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-5010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43,9411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-6765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0,002073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1,61%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-11,72%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5683085"/>
                  </a:ext>
                </a:extLst>
              </a:tr>
              <a:tr h="1879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-6833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-13446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7,5351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-9791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0,000243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0,9%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-9,6%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3820929"/>
                  </a:ext>
                </a:extLst>
              </a:tr>
              <a:tr h="1879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-12177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-8020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17,2834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-7644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0,000908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2,4%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-9,3%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081051"/>
                  </a:ext>
                </a:extLst>
              </a:tr>
              <a:tr h="187917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-4388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-2982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136,5857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-3985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0,006369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1,8%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1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-11,7%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3856114"/>
                  </a:ext>
                </a:extLst>
              </a:tr>
            </a:tbl>
          </a:graphicData>
        </a:graphic>
      </p:graphicFrame>
      <p:sp>
        <p:nvSpPr>
          <p:cNvPr id="11" name="Объект 4"/>
          <p:cNvSpPr txBox="1">
            <a:spLocks/>
          </p:cNvSpPr>
          <p:nvPr/>
        </p:nvSpPr>
        <p:spPr>
          <a:xfrm>
            <a:off x="906089" y="3482749"/>
            <a:ext cx="2177935" cy="36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Mobile</a:t>
            </a:r>
            <a:endParaRPr lang="ru-RU" sz="1800" dirty="0"/>
          </a:p>
        </p:txBody>
      </p:sp>
      <p:sp>
        <p:nvSpPr>
          <p:cNvPr id="12" name="Объект 4"/>
          <p:cNvSpPr txBox="1">
            <a:spLocks/>
          </p:cNvSpPr>
          <p:nvPr/>
        </p:nvSpPr>
        <p:spPr>
          <a:xfrm>
            <a:off x="9437409" y="2985013"/>
            <a:ext cx="1791765" cy="10058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 smtClean="0"/>
              <a:t>Показатели группы В </a:t>
            </a:r>
            <a:r>
              <a:rPr lang="ru-RU" sz="1800" dirty="0" smtClean="0"/>
              <a:t>относительно</a:t>
            </a:r>
            <a:r>
              <a:rPr lang="ru-RU" sz="1600" dirty="0" smtClean="0"/>
              <a:t> группы А</a:t>
            </a:r>
          </a:p>
        </p:txBody>
      </p:sp>
    </p:spTree>
    <p:extLst>
      <p:ext uri="{BB962C8B-B14F-4D97-AF65-F5344CB8AC3E}">
        <p14:creationId xmlns:p14="http://schemas.microsoft.com/office/powerpoint/2010/main" val="213813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7152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Анализ поведения пользователей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08538" y="5125915"/>
            <a:ext cx="9580736" cy="16529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700" dirty="0" smtClean="0"/>
              <a:t>На протяжении проведения теста (7 дней) мы увидели противоположные результаты на </a:t>
            </a:r>
            <a:r>
              <a:rPr lang="en-US" sz="1700" dirty="0" smtClean="0"/>
              <a:t>Desktop </a:t>
            </a:r>
            <a:r>
              <a:rPr lang="ru-RU" sz="1700" dirty="0" smtClean="0"/>
              <a:t>и </a:t>
            </a:r>
            <a:r>
              <a:rPr lang="en-US" sz="1700" dirty="0" smtClean="0"/>
              <a:t>Mobile</a:t>
            </a:r>
            <a:r>
              <a:rPr lang="ru-RU" sz="1700" dirty="0" smtClean="0"/>
              <a:t>. По окончанию теста группа А на </a:t>
            </a:r>
            <a:r>
              <a:rPr lang="en-US" sz="1700" dirty="0" smtClean="0"/>
              <a:t>Desktop </a:t>
            </a:r>
            <a:r>
              <a:rPr lang="ru-RU" sz="1700" dirty="0" smtClean="0"/>
              <a:t>показала себя лучше, чем В, в то время как на </a:t>
            </a:r>
            <a:r>
              <a:rPr lang="en-US" sz="1700" dirty="0" smtClean="0"/>
              <a:t>Mobile</a:t>
            </a:r>
            <a:r>
              <a:rPr lang="ru-RU" sz="1700" dirty="0" smtClean="0"/>
              <a:t> группа В показала лучшие показатели по финансовым метрикам</a:t>
            </a:r>
          </a:p>
          <a:p>
            <a:pPr marL="0" indent="0" algn="just">
              <a:buNone/>
            </a:pPr>
            <a:r>
              <a:rPr lang="ru-RU" sz="1700" b="1" dirty="0" smtClean="0"/>
              <a:t>Однако:</a:t>
            </a:r>
            <a:r>
              <a:rPr lang="ru-RU" sz="1700" dirty="0" smtClean="0"/>
              <a:t> анализ поведения пользователей (прогноз и линия тренда) показывают, что текущее поведение пользователей вполне могут быть временным и иметь затухающих характер. Поэтому рекомендуется дальнейшее наблюдение за изменениями</a:t>
            </a:r>
            <a:endParaRPr lang="ru-RU" sz="1700" dirty="0" smtClean="0"/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908538" y="1316436"/>
            <a:ext cx="2177935" cy="364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Desktop</a:t>
            </a:r>
            <a:endParaRPr lang="ru-RU" sz="1800" dirty="0"/>
          </a:p>
        </p:txBody>
      </p:sp>
      <p:sp>
        <p:nvSpPr>
          <p:cNvPr id="10" name="Объект 4"/>
          <p:cNvSpPr txBox="1">
            <a:spLocks/>
          </p:cNvSpPr>
          <p:nvPr/>
        </p:nvSpPr>
        <p:spPr>
          <a:xfrm>
            <a:off x="6333393" y="1316436"/>
            <a:ext cx="2177935" cy="3714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Mobile</a:t>
            </a:r>
            <a:endParaRPr lang="ru-RU" sz="18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708940"/>
            <a:ext cx="5163772" cy="315320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10" y="1698930"/>
            <a:ext cx="5204074" cy="316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 smtClean="0"/>
              <a:t>Вывод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13467"/>
            <a:ext cx="10515600" cy="45550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Эксперимент оптимизирует краткосрочную монетизацию, но создаёт риск снижения ценности платформы для пользователей и издателей.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Поэтому </a:t>
            </a:r>
            <a:r>
              <a:rPr lang="ru-RU" dirty="0"/>
              <a:t>предлагается ограниченное внедрение с обязательным мониторингом </a:t>
            </a:r>
            <a:r>
              <a:rPr lang="ru-RU" dirty="0" err="1"/>
              <a:t>retention</a:t>
            </a:r>
            <a:r>
              <a:rPr lang="ru-RU" dirty="0"/>
              <a:t> и поведения пользователей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endParaRPr lang="ru-RU" dirty="0"/>
          </a:p>
          <a:p>
            <a:pPr lvl="0"/>
            <a:r>
              <a:rPr lang="ru-RU" b="1" dirty="0"/>
              <a:t>Внедрить изменения только на платформе </a:t>
            </a:r>
            <a:r>
              <a:rPr lang="en-US" b="1" dirty="0"/>
              <a:t>Mobile</a:t>
            </a:r>
            <a:endParaRPr lang="ru-RU" dirty="0"/>
          </a:p>
          <a:p>
            <a:pPr lvl="0"/>
            <a:r>
              <a:rPr lang="ru-RU" b="1" dirty="0"/>
              <a:t>Откатить изменения на платформе </a:t>
            </a:r>
            <a:r>
              <a:rPr lang="en-US" b="1" dirty="0" smtClean="0"/>
              <a:t>Desktop</a:t>
            </a:r>
            <a:endParaRPr lang="ru-RU" b="1" dirty="0" smtClean="0"/>
          </a:p>
          <a:p>
            <a:pPr lvl="0"/>
            <a:r>
              <a:rPr lang="ru-RU" b="1" dirty="0" err="1" smtClean="0"/>
              <a:t>Мониторить</a:t>
            </a:r>
            <a:r>
              <a:rPr lang="ru-RU" b="1" dirty="0" smtClean="0"/>
              <a:t> </a:t>
            </a:r>
            <a:r>
              <a:rPr lang="en-US" b="1" dirty="0" smtClean="0"/>
              <a:t>Retention</a:t>
            </a:r>
            <a:r>
              <a:rPr lang="ru-RU" b="1" dirty="0" smtClean="0"/>
              <a:t> на </a:t>
            </a:r>
            <a:r>
              <a:rPr lang="en-US" b="1" dirty="0" smtClean="0"/>
              <a:t>Mobile</a:t>
            </a:r>
            <a:r>
              <a:rPr lang="ru-RU" b="1" smtClean="0"/>
              <a:t>, следить за трендом</a:t>
            </a:r>
            <a:endParaRPr lang="ru-RU" dirty="0"/>
          </a:p>
          <a:p>
            <a:pPr lvl="0"/>
            <a:r>
              <a:rPr lang="ru-RU" b="1" dirty="0" err="1"/>
              <a:t>Мониторить</a:t>
            </a:r>
            <a:r>
              <a:rPr lang="ru-RU" b="1" dirty="0"/>
              <a:t> органические ссылки ежедневно 2 недели</a:t>
            </a:r>
            <a:endParaRPr lang="ru-RU" dirty="0"/>
          </a:p>
          <a:p>
            <a:pPr lvl="0"/>
            <a:r>
              <a:rPr lang="ru-RU" b="1" dirty="0"/>
              <a:t>Замерить </a:t>
            </a:r>
            <a:r>
              <a:rPr lang="en-US" b="1" dirty="0"/>
              <a:t>Retention </a:t>
            </a:r>
            <a:r>
              <a:rPr lang="ru-RU" b="1" dirty="0"/>
              <a:t>на 15, 30 дни (оценить долгосрочное влияние)</a:t>
            </a:r>
            <a:endParaRPr lang="ru-RU" dirty="0"/>
          </a:p>
          <a:p>
            <a:pPr lvl="0"/>
            <a:r>
              <a:rPr lang="ru-RU" b="1" dirty="0"/>
              <a:t>Начать новый тест на </a:t>
            </a:r>
            <a:r>
              <a:rPr lang="en-US" b="1" dirty="0"/>
              <a:t>Desktop </a:t>
            </a:r>
            <a:endParaRPr lang="ru-RU" dirty="0"/>
          </a:p>
          <a:p>
            <a:pPr lvl="0"/>
            <a:r>
              <a:rPr lang="ru-RU" b="1" dirty="0"/>
              <a:t>Выставляем критический уровень падения для </a:t>
            </a:r>
            <a:r>
              <a:rPr lang="en-US" b="1" dirty="0"/>
              <a:t>Organic click</a:t>
            </a:r>
            <a:endParaRPr lang="ru-RU" dirty="0"/>
          </a:p>
          <a:p>
            <a:pPr lvl="0"/>
            <a:r>
              <a:rPr lang="ru-RU" b="1" dirty="0"/>
              <a:t>Готовность откатить изменения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44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</TotalTime>
  <Words>603</Words>
  <Application>Microsoft Office PowerPoint</Application>
  <PresentationFormat>Широкоэкранный</PresentationFormat>
  <Paragraphs>213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АВ-тест обновления рекламной ленты</vt:lpstr>
      <vt:lpstr>Общая информация об эксперименте</vt:lpstr>
      <vt:lpstr>Итоговый результат теста по платформам</vt:lpstr>
      <vt:lpstr>Обоснование полученных результатов</vt:lpstr>
      <vt:lpstr>Анализ эффективности ленты в издательствах</vt:lpstr>
      <vt:lpstr>Анализ влияния теста на издательства</vt:lpstr>
      <vt:lpstr>Анализ поведения пользователей</vt:lpstr>
      <vt:lpstr>Вывод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АВ-тест обновления рекламной ленты</dc:title>
  <dc:creator>RePack by Diakov</dc:creator>
  <cp:lastModifiedBy>RePack by Diakov</cp:lastModifiedBy>
  <cp:revision>46</cp:revision>
  <dcterms:created xsi:type="dcterms:W3CDTF">2026-02-20T16:34:02Z</dcterms:created>
  <dcterms:modified xsi:type="dcterms:W3CDTF">2026-02-28T09:02:00Z</dcterms:modified>
</cp:coreProperties>
</file>